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bin" ContentType="application/vnd.openxmlformats-officedocument.spreadsheetml.sheet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charts/chart3.xml" ContentType="application/vnd.openxmlformats-officedocument.drawingml.chart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charts/chart4.xml" ContentType="application/vnd.openxmlformats-officedocument.drawingml.chart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charts/chart5.xml" ContentType="application/vnd.openxmlformats-officedocument.drawingml.chart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00fbfc93d204955" /><Relationship Type="http://schemas.openxmlformats.org/package/2006/relationships/metadata/core-properties" Target="/docProps/core.xml" Id="Rde6bef8f61f5455d" /><Relationship Type="http://schemas.openxmlformats.org/officeDocument/2006/relationships/extended-properties" Target="/docProps/app.xml" Id="R128d5c3f6602412b" /><Relationship Type="http://schemas.openxmlformats.org/officeDocument/2006/relationships/custom-properties" Target="/docProps/custom.xml" Id="R8e847c0ce2164a95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38fe27f921b64900"/>
  </p:sldMasterIdLst>
  <p:sldIdLst>
    <p:sldId id="256" r:id="R60fbf222b2a34b45"/>
    <p:sldId id="257" r:id="Rff0837c52c694092"/>
    <p:sldId id="258" r:id="R801f19e18f7749bc"/>
    <p:sldId id="259" r:id="R331cb66098c54723"/>
    <p:sldId id="260" r:id="Re52a6cc0cbfa44ea"/>
    <p:sldId id="261" r:id="R9d02f664d42a4263"/>
    <p:sldId id="262" r:id="R1a37201e34204d9f"/>
    <p:sldId id="263" r:id="R5f5287feee3f4469"/>
    <p:sldId id="264" r:id="R778c0826c614474d"/>
    <p:sldId id="265" r:id="R5cbf5df0f4db4f51"/>
    <p:sldId id="266" r:id="R5c01d94759cc4c91"/>
    <p:sldId id="267" r:id="Rea14f9c04e2e4017"/>
    <p:sldId id="268" r:id="Red4df3b42b7c4556"/>
    <p:sldId id="269" r:id="R4c1ecb429c604e2f"/>
    <p:sldId id="270" r:id="R407f536f5c534d9a"/>
    <p:sldId id="271" r:id="Rfe828a9eb84a4dc1"/>
    <p:sldId id="272" r:id="R549f99b1337c46d1"/>
    <p:sldId id="273" r:id="Rb8f1d309ce444eec"/>
    <p:sldId id="274" r:id="R994c41bae3c14ffe"/>
    <p:sldId id="275" r:id="Re702ebcf92c544e2"/>
    <p:sldId id="276" r:id="R5d6623cc74984f94"/>
    <p:sldId id="277" r:id="Rcc6a8d3574844a08"/>
    <p:sldId id="278" r:id="Rfb6a74c29f2f4a5e"/>
    <p:sldId id="279" r:id="R617d29f363b548b7"/>
    <p:sldId id="280" r:id="R172e085c3c014c35"/>
    <p:sldId id="281" r:id="R8beb5e4754bb438b"/>
    <p:sldId id="282" r:id="R004250dc12284f10"/>
    <p:sldId id="283" r:id="R635f72036b0f45bf"/>
    <p:sldId id="284" r:id="R170efb7f47844a1b"/>
    <p:sldId id="285" r:id="Ra0b73e0838c648cd"/>
    <p:sldId id="286" r:id="R5d125c820960490e"/>
    <p:sldId id="287" r:id="R79497d720d124a8d"/>
    <p:sldId id="288" r:id="R7a59a3282dbe41aa"/>
    <p:sldId id="289" r:id="Rdcde14c6e3974ee9"/>
    <p:sldId id="290" r:id="R84b3b763ae7242e9"/>
    <p:sldId id="291" r:id="R95b8f9069bdc4aad"/>
    <p:sldId id="292" r:id="R2e88629063894461"/>
    <p:sldId id="293" r:id="R4e861ec0614c42ae"/>
    <p:sldId id="294" r:id="R5663bebebbf0434b"/>
    <p:sldId id="295" r:id="R410d67bf11a44aa1"/>
    <p:sldId id="296" r:id="R42347f01a68647ee"/>
    <p:sldId id="297" r:id="R1c287b995bac41fb"/>
    <p:sldId id="298" r:id="Rdd9c3e0dcfc040b8"/>
    <p:sldId id="299" r:id="R6c2988333322463c"/>
    <p:sldId id="300" r:id="R3acfb9b7764f474b"/>
    <p:sldId id="301" r:id="R9be00513d9a04bf8"/>
    <p:sldId id="302" r:id="R98eff8d157ec4921"/>
    <p:sldId id="303" r:id="R56aaac86b4e34c87"/>
    <p:sldId id="304" r:id="R0a75015a90c84a46"/>
    <p:sldId id="305" r:id="R152ac66fe3a74dc7"/>
    <p:sldId id="306" r:id="Rcd632d8a5e0f4327"/>
    <p:sldId id="307" r:id="R2e5275918d364950"/>
    <p:sldId id="308" r:id="Rdb26bbb8446d463d"/>
    <p:sldId id="309" r:id="Re4d497e000f84468"/>
    <p:sldId id="310" r:id="R82fb080b2fb8479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0727c3edfb864138" /><Relationship Type="http://schemas.openxmlformats.org/officeDocument/2006/relationships/viewProps" Target="/ppt/viewProps.xml" Id="R283b3bb8d7fd4727" /><Relationship Type="http://schemas.openxmlformats.org/officeDocument/2006/relationships/slideMaster" Target="/ppt/slideMasters/slideMaster1.xml" Id="R38fe27f921b64900" /><Relationship Type="http://schemas.openxmlformats.org/officeDocument/2006/relationships/theme" Target="/ppt/slideMasters/theme/theme1.xml" Id="R7765e657da594617" /><Relationship Type="http://schemas.openxmlformats.org/officeDocument/2006/relationships/slide" Target="/ppt/slides/slide1.xml" Id="R60fbf222b2a34b45" /><Relationship Type="http://schemas.openxmlformats.org/officeDocument/2006/relationships/slide" Target="/ppt/slides/slide2.xml" Id="Rff0837c52c694092" /><Relationship Type="http://schemas.openxmlformats.org/officeDocument/2006/relationships/slide" Target="/ppt/slides/slide3.xml" Id="R801f19e18f7749bc" /><Relationship Type="http://schemas.openxmlformats.org/officeDocument/2006/relationships/slide" Target="/ppt/slides/slide4.xml" Id="R331cb66098c54723" /><Relationship Type="http://schemas.openxmlformats.org/officeDocument/2006/relationships/slide" Target="/ppt/slides/slide5.xml" Id="Re52a6cc0cbfa44ea" /><Relationship Type="http://schemas.openxmlformats.org/officeDocument/2006/relationships/slide" Target="/ppt/slides/slide6.xml" Id="R9d02f664d42a4263" /><Relationship Type="http://schemas.openxmlformats.org/officeDocument/2006/relationships/slide" Target="/ppt/slides/slide7.xml" Id="R1a37201e34204d9f" /><Relationship Type="http://schemas.openxmlformats.org/officeDocument/2006/relationships/slide" Target="/ppt/slides/slide8.xml" Id="R5f5287feee3f4469" /><Relationship Type="http://schemas.openxmlformats.org/officeDocument/2006/relationships/slide" Target="/ppt/slides/slide9.xml" Id="R778c0826c614474d" /><Relationship Type="http://schemas.openxmlformats.org/officeDocument/2006/relationships/slide" Target="/ppt/slides/slide10.xml" Id="R5cbf5df0f4db4f51" /><Relationship Type="http://schemas.openxmlformats.org/officeDocument/2006/relationships/slide" Target="/ppt/slides/slide11.xml" Id="R5c01d94759cc4c91" /><Relationship Type="http://schemas.openxmlformats.org/officeDocument/2006/relationships/slide" Target="/ppt/slides/slide12.xml" Id="Rea14f9c04e2e4017" /><Relationship Type="http://schemas.openxmlformats.org/officeDocument/2006/relationships/slide" Target="/ppt/slides/slide13.xml" Id="Red4df3b42b7c4556" /><Relationship Type="http://schemas.openxmlformats.org/officeDocument/2006/relationships/slide" Target="/ppt/slides/slide14.xml" Id="R4c1ecb429c604e2f" /><Relationship Type="http://schemas.openxmlformats.org/officeDocument/2006/relationships/slide" Target="/ppt/slides/slide15.xml" Id="R407f536f5c534d9a" /><Relationship Type="http://schemas.openxmlformats.org/officeDocument/2006/relationships/slide" Target="/ppt/slides/slide16.xml" Id="Rfe828a9eb84a4dc1" /><Relationship Type="http://schemas.openxmlformats.org/officeDocument/2006/relationships/slide" Target="/ppt/slides/slide17.xml" Id="R549f99b1337c46d1" /><Relationship Type="http://schemas.openxmlformats.org/officeDocument/2006/relationships/slide" Target="/ppt/slides/slide18.xml" Id="Rb8f1d309ce444eec" /><Relationship Type="http://schemas.openxmlformats.org/officeDocument/2006/relationships/slide" Target="/ppt/slides/slide19.xml" Id="R994c41bae3c14ffe" /><Relationship Type="http://schemas.openxmlformats.org/officeDocument/2006/relationships/slide" Target="/ppt/slides/slide20.xml" Id="Re702ebcf92c544e2" /><Relationship Type="http://schemas.openxmlformats.org/officeDocument/2006/relationships/slide" Target="/ppt/slides/slide21.xml" Id="R5d6623cc74984f94" /><Relationship Type="http://schemas.openxmlformats.org/officeDocument/2006/relationships/slide" Target="/ppt/slides/slide22.xml" Id="Rcc6a8d3574844a08" /><Relationship Type="http://schemas.openxmlformats.org/officeDocument/2006/relationships/slide" Target="/ppt/slides/slide23.xml" Id="Rfb6a74c29f2f4a5e" /><Relationship Type="http://schemas.openxmlformats.org/officeDocument/2006/relationships/slide" Target="/ppt/slides/slide24.xml" Id="R617d29f363b548b7" /><Relationship Type="http://schemas.openxmlformats.org/officeDocument/2006/relationships/slide" Target="/ppt/slides/slide25.xml" Id="R172e085c3c014c35" /><Relationship Type="http://schemas.openxmlformats.org/officeDocument/2006/relationships/slide" Target="/ppt/slides/slide26.xml" Id="R8beb5e4754bb438b" /><Relationship Type="http://schemas.openxmlformats.org/officeDocument/2006/relationships/slide" Target="/ppt/slides/slide27.xml" Id="R004250dc12284f10" /><Relationship Type="http://schemas.openxmlformats.org/officeDocument/2006/relationships/slide" Target="/ppt/slides/slide28.xml" Id="R635f72036b0f45bf" /><Relationship Type="http://schemas.openxmlformats.org/officeDocument/2006/relationships/slide" Target="/ppt/slides/slide29.xml" Id="R170efb7f47844a1b" /><Relationship Type="http://schemas.openxmlformats.org/officeDocument/2006/relationships/slide" Target="/ppt/slides/slide30.xml" Id="Ra0b73e0838c648cd" /><Relationship Type="http://schemas.openxmlformats.org/officeDocument/2006/relationships/slide" Target="/ppt/slides/slide31.xml" Id="R5d125c820960490e" /><Relationship Type="http://schemas.openxmlformats.org/officeDocument/2006/relationships/slide" Target="/ppt/slides/slide32.xml" Id="R79497d720d124a8d" /><Relationship Type="http://schemas.openxmlformats.org/officeDocument/2006/relationships/slide" Target="/ppt/slides/slide33.xml" Id="R7a59a3282dbe41aa" /><Relationship Type="http://schemas.openxmlformats.org/officeDocument/2006/relationships/slide" Target="/ppt/slides/slide34.xml" Id="Rdcde14c6e3974ee9" /><Relationship Type="http://schemas.openxmlformats.org/officeDocument/2006/relationships/slide" Target="/ppt/slides/slide35.xml" Id="R84b3b763ae7242e9" /><Relationship Type="http://schemas.openxmlformats.org/officeDocument/2006/relationships/slide" Target="/ppt/slides/slide36.xml" Id="R95b8f9069bdc4aad" /><Relationship Type="http://schemas.openxmlformats.org/officeDocument/2006/relationships/slide" Target="/ppt/slides/slide37.xml" Id="R2e88629063894461" /><Relationship Type="http://schemas.openxmlformats.org/officeDocument/2006/relationships/slide" Target="/ppt/slides/slide38.xml" Id="R4e861ec0614c42ae" /><Relationship Type="http://schemas.openxmlformats.org/officeDocument/2006/relationships/slide" Target="/ppt/slides/slide39.xml" Id="R5663bebebbf0434b" /><Relationship Type="http://schemas.openxmlformats.org/officeDocument/2006/relationships/slide" Target="/ppt/slides/slide40.xml" Id="R410d67bf11a44aa1" /><Relationship Type="http://schemas.openxmlformats.org/officeDocument/2006/relationships/slide" Target="/ppt/slides/slide41.xml" Id="R42347f01a68647ee" /><Relationship Type="http://schemas.openxmlformats.org/officeDocument/2006/relationships/slide" Target="/ppt/slides/slide42.xml" Id="R1c287b995bac41fb" /><Relationship Type="http://schemas.openxmlformats.org/officeDocument/2006/relationships/slide" Target="/ppt/slides/slide43.xml" Id="Rdd9c3e0dcfc040b8" /><Relationship Type="http://schemas.openxmlformats.org/officeDocument/2006/relationships/slide" Target="/ppt/slides/slide44.xml" Id="R6c2988333322463c" /><Relationship Type="http://schemas.openxmlformats.org/officeDocument/2006/relationships/slide" Target="/ppt/slides/slide45.xml" Id="R3acfb9b7764f474b" /><Relationship Type="http://schemas.openxmlformats.org/officeDocument/2006/relationships/slide" Target="/ppt/slides/slide46.xml" Id="R9be00513d9a04bf8" /><Relationship Type="http://schemas.openxmlformats.org/officeDocument/2006/relationships/slide" Target="/ppt/slides/slide47.xml" Id="R98eff8d157ec4921" /><Relationship Type="http://schemas.openxmlformats.org/officeDocument/2006/relationships/slide" Target="/ppt/slides/slide48.xml" Id="R56aaac86b4e34c87" /><Relationship Type="http://schemas.openxmlformats.org/officeDocument/2006/relationships/slide" Target="/ppt/slides/slide49.xml" Id="R0a75015a90c84a46" /><Relationship Type="http://schemas.openxmlformats.org/officeDocument/2006/relationships/slide" Target="/ppt/slides/slide50.xml" Id="R152ac66fe3a74dc7" /><Relationship Type="http://schemas.openxmlformats.org/officeDocument/2006/relationships/slide" Target="/ppt/slides/slide51.xml" Id="Rcd632d8a5e0f4327" /><Relationship Type="http://schemas.openxmlformats.org/officeDocument/2006/relationships/slide" Target="/ppt/slides/slide52.xml" Id="R2e5275918d364950" /><Relationship Type="http://schemas.openxmlformats.org/officeDocument/2006/relationships/slide" Target="/ppt/slides/slide53.xml" Id="Rdb26bbb8446d463d" /><Relationship Type="http://schemas.openxmlformats.org/officeDocument/2006/relationships/slide" Target="/ppt/slides/slide54.xml" Id="Re4d497e000f84468" /><Relationship Type="http://schemas.openxmlformats.org/officeDocument/2006/relationships/slide" Target="/ppt/slides/slide55.xml" Id="R82fb080b2fb847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5bc9aaf1494b40" /></Relationships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a53e8384295046a8" /><Relationship Type="http://schemas.openxmlformats.org/officeDocument/2006/relationships/slideLayout" Target="/ppt/slideLayouts/slideLayout3.xml" Id="R1e6fe926f5c3488e" 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1e6fe926f5c3488e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f5887c879f240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b22c0cb71ce4e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390e8d3aa3f4a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f7b30670e2743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chart" Target="/ppt/slides/charts/chart1.xml" Id="Rf9c287cef08442bf" /><Relationship Type="http://schemas.openxmlformats.org/officeDocument/2006/relationships/slideLayout" Target="/ppt/slideLayouts/slideLayout3.xml" Id="R99003b66d27241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a229b80358242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4f3d0771be49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f61cd17960240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2b2482ee824b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6f00a512cb46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c7a465f68134d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0c2f256d0ab4b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7cb3af85dc41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a6508e52b6647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87552709fd94d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chart" Target="/ppt/slides/charts/chart2.xml" Id="Rc20b2c2f77004906" /><Relationship Type="http://schemas.openxmlformats.org/officeDocument/2006/relationships/slideLayout" Target="/ppt/slideLayouts/slideLayout3.xml" Id="R76602913754245d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5b1ccb852e4d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9a761a782f421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64a9fc4c84a45a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afe69a8090d4f7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b43699041843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582be088a194e1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d86548d0aa455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c1dc678431401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bca4be79299496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7ebf42c04004a7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chart" Target="/ppt/slides/charts/chart3.xml" Id="R6bede1824327401b" /><Relationship Type="http://schemas.openxmlformats.org/officeDocument/2006/relationships/slideLayout" Target="/ppt/slideLayouts/slideLayout3.xml" Id="Rf17a8ce90d9742f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58ade4bbdb482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867d71b4f10427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7dfa0485a07425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d801d3e53c4d2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f6a94642b34ad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bfc4cfc642d49e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a44f61ab2884ac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fa6753106144d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df4b19013145f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9baa89c0084d7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chart" Target="/ppt/slides/charts/chart4.xml" Id="R98c40ad041d6480f" /><Relationship Type="http://schemas.openxmlformats.org/officeDocument/2006/relationships/slideLayout" Target="/ppt/slideLayouts/slideLayout3.xml" Id="R524623070c1542e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dee2cea63d5468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84e404052b04b7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3b71c4849c14a8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8bfaad4aa514b2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d01ed0032dc4d4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5675beb6d7423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825c5e1a8b488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15aee1287845e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2210b35ffa44e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b4c977148e3444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chart" Target="/ppt/slides/charts/chart5.xml" Id="Rf833d8cbef33436d" /><Relationship Type="http://schemas.openxmlformats.org/officeDocument/2006/relationships/slideLayout" Target="/ppt/slideLayouts/slideLayout3.xml" Id="R31bf9595b03b4efe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ffdadd251f04d4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788413349224f4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06a31508e764431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933cbbc8b54412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526bba13cd480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0103dfd9b04e47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25dbba68deb0483f" /></Relationships>
</file>

<file path=ppt/slides/charts/_rels/chart2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2.bin" Id="Rf3ee5c3218654562" /></Relationships>
</file>

<file path=ppt/slides/charts/_rels/chart3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3.bin" Id="R055464bdf20f4ecc" /></Relationships>
</file>

<file path=ppt/slides/charts/_rels/chart4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4.bin" Id="Rb2483929e4444e14" /></Relationships>
</file>

<file path=ppt/slides/charts/_rels/chart5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5.bin" Id="Re5c5602230b6453c" /></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>
                <a:solidFill>
                  <a:srgbClr val="1B2A4A"/>
                </a:solidFill>
              </a:rPr>
              <a:t>Failure Case — Before vs Target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Failure Cases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1-8725-41FC-AF64-2E0D42A20A8E}"/>
              </c:ext>
            </c:extLst>
          </c:dPt>
          <c:dPt>
            <c:idx val="1"/>
            <c:invertIfNegative val="1"/>
            <c:bubble3D val="0"/>
            <c:spPr>
              <a:solidFill>
                <a:srgbClr val="2E7D32"/>
              </a:solidFill>
            </c:spPr>
            <c:extLst>
              <c:ext xmlns:c16="http://schemas.microsoft.com/office/drawing/2014/chart" uri="{C3380CC4-5D6E-409C-BE32-E72D297353CC}">
                <c16:uniqueId val="{00000003-8725-41FC-AF64-2E0D42A20A8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25-41FC-AF64-2E0D42A20A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25dbba68deb0483f">
    <c:autoUpdate val="0"/>
  </c:externalData>
</c:chartSpace>
</file>

<file path=ppt/slides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>
                <a:solidFill>
                  <a:srgbClr val="1B2A4A"/>
                </a:solidFill>
              </a:rPr>
              <a:t>Failure Case — Before vs Target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Failure Cases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1-24B6-4C13-896B-1822B10B57ED}"/>
              </c:ext>
            </c:extLst>
          </c:dPt>
          <c:dPt>
            <c:idx val="1"/>
            <c:invertIfNegative val="1"/>
            <c:bubble3D val="0"/>
            <c:spPr>
              <a:solidFill>
                <a:srgbClr val="2E7D32"/>
              </a:solidFill>
            </c:spPr>
            <c:extLst>
              <c:ext xmlns:c16="http://schemas.microsoft.com/office/drawing/2014/chart" uri="{C3380CC4-5D6E-409C-BE32-E72D297353CC}">
                <c16:uniqueId val="{00000003-24B6-4C13-896B-1822B10B57E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B6-4C13-896B-1822B10B57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f3ee5c3218654562">
    <c:autoUpdate val="0"/>
  </c:externalData>
</c:chartSpace>
</file>

<file path=ppt/slides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>
                <a:solidFill>
                  <a:srgbClr val="1B2A4A"/>
                </a:solidFill>
              </a:rPr>
              <a:t>Failure Case — Before vs Target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Failure Cases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1-402D-4135-887B-09CF02796EB8}"/>
              </c:ext>
            </c:extLst>
          </c:dPt>
          <c:dPt>
            <c:idx val="1"/>
            <c:invertIfNegative val="1"/>
            <c:bubble3D val="0"/>
            <c:spPr>
              <a:solidFill>
                <a:srgbClr val="2E7D32"/>
              </a:solidFill>
            </c:spPr>
            <c:extLst>
              <c:ext xmlns:c16="http://schemas.microsoft.com/office/drawing/2014/chart" uri="{C3380CC4-5D6E-409C-BE32-E72D297353CC}">
                <c16:uniqueId val="{00000003-402D-4135-887B-09CF02796EB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2D-4135-887B-09CF02796E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055464bdf20f4ecc">
    <c:autoUpdate val="0"/>
  </c:externalData>
</c:chartSpace>
</file>

<file path=ppt/slides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>
                <a:solidFill>
                  <a:srgbClr val="1B2A4A"/>
                </a:solidFill>
              </a:rPr>
              <a:t>Failure Case — Before vs Target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Failure Cases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1-1F21-4B5D-90D6-2100AFB955B3}"/>
              </c:ext>
            </c:extLst>
          </c:dPt>
          <c:dPt>
            <c:idx val="1"/>
            <c:invertIfNegative val="1"/>
            <c:bubble3D val="0"/>
            <c:spPr>
              <a:solidFill>
                <a:srgbClr val="2E7D32"/>
              </a:solidFill>
            </c:spPr>
            <c:extLst>
              <c:ext xmlns:c16="http://schemas.microsoft.com/office/drawing/2014/chart" uri="{C3380CC4-5D6E-409C-BE32-E72D297353CC}">
                <c16:uniqueId val="{00000003-1F21-4B5D-90D6-2100AFB955B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21-4B5D-90D6-2100AFB955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b2483929e4444e14">
    <c:autoUpdate val="0"/>
  </c:externalData>
</c:chartSpace>
</file>

<file path=ppt/slides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>
                <a:solidFill>
                  <a:srgbClr val="1B2A4A"/>
                </a:solidFill>
              </a:rPr>
              <a:t>Failure Case — Before vs Target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Failure Cases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1-89E3-4946-8B7D-68B24C2329EE}"/>
              </c:ext>
            </c:extLst>
          </c:dPt>
          <c:dPt>
            <c:idx val="1"/>
            <c:invertIfNegative val="1"/>
            <c:bubble3D val="0"/>
            <c:spPr>
              <a:solidFill>
                <a:srgbClr val="2E7D32"/>
              </a:solidFill>
            </c:spPr>
            <c:extLst>
              <c:ext xmlns:c16="http://schemas.microsoft.com/office/drawing/2014/chart" uri="{C3380CC4-5D6E-409C-BE32-E72D297353CC}">
                <c16:uniqueId val="{00000003-89E3-4946-8B7D-68B24C2329E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E3-4946-8B7D-68B24C2329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e5c5602230b6453c">
    <c:autoUpdate val="0"/>
  </c:externalData>
</c:chartSpace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78240" y="0"/>
            <a:ext cx="73152" cy="685800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B01E"/>
                </a:solidFill>
                <a:latin typeface="Calibri"/>
              </a:rPr>
              <a:t>ABNORMALITY REPORT — RCA &amp; CAPA/PAA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7680960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Feed Charge Pump PU-2101B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F2B01E"/>
                </a:solidFill>
                <a:latin typeface="Georgia"/>
              </a:rPr>
              <a:t>Mechanical Seal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463040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AR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700784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AR-2026-ARP-0117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249424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TAG / PLANT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487168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PU-2101B  |  ARP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035808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DATE OCCURRENCE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273552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12 Mar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822192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PRE-RISK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059936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III  (Score 200)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608576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PIC (RCA)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846320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REL-05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9E1F2"/>
                </a:solidFill>
                <a:latin typeface="Calibri"/>
              </a:rPr>
              <a:t>Procedure No. RCA-P-0050-03  •  Form RCA-F-0075-02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1E0403-0D22-9AC4-2C71-AE7872B27A14}"/>
              </a:ext>
            </a:extLst>
          </p:cNvPr>
          <p:cNvSpPr txBox="1"/>
          <p:nvPr/>
        </p:nvSpPr>
        <p:spPr>
          <a:xfrm>
            <a:off x="731520" y="1051560"/>
            <a:ext cx="768096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9E1F2"/>
                </a:solidFill>
                <a:latin typeface="Calibri"/>
              </a:rPr>
              <a:t>Equipment Related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PROBLEM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AR Details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02/11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AR IDENTIFICATION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28216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51760" y="1728216"/>
            <a:ext cx="4297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728216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Title /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28216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Feed Charge Pump PU-2101B — Mechanical Seal Leakage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7685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51760" y="2276856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27685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AR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27685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OPEDR (Operation) — Uptime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60904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51760" y="2660904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660904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Plant /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660904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ARP  (Aurora Resin Plant)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44952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51760" y="3044952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044952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Tag / Eq.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044952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PU-2101B  |  Class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29000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51760" y="3429000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429000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Discipline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429000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13048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51760" y="3813048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813048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Occurrence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813048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12 Mar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19709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51760" y="4197096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19709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Reported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19709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13 Mar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81144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51760" y="4581144"/>
            <a:ext cx="4297680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581144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Immediate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581144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Isolate PU-2101B, swap to spare PU-2101A, replace mechanical seal cartridge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315200" y="137160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3465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SEVERITY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465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Major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784080" y="1371600"/>
            <a:ext cx="109728" cy="105156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0353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PRE-RISK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353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III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315200" y="2560320"/>
            <a:ext cx="109728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3465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DOWNTIME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18.5 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784080" y="2560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0353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LOSS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353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$226.44k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3794760"/>
            <a:ext cx="4297680" cy="23317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4279392"/>
            <a:ext cx="3931920" cy="1737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Mechanical seal of Feed Charge Pump PU-2101B failed on 12-Mar-2026, causing seal leakage and an unplanned feed reduction to the ARP reactor section.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GENERAL PROCESS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Chronology of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03/11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36576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6696" y="1463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417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11-Mar-2026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4173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ARP produced resin grade PR-5502 (Reactor Rate ± 13.6 T/H). Field operator noted minor seal weep on PU-2101B during routine round.</a:t>
            </a:r>
          </a:p>
        </p:txBody>
      </p:sp>
      <p:sp>
        <p:nvSpPr>
          <p:cNvPr id="12" name="Oval 11"/>
          <p:cNvSpPr/>
          <p:nvPr/>
        </p:nvSpPr>
        <p:spPr>
          <a:xfrm>
            <a:off x="996696" y="23774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23317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12-Mar-2026 02:15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3317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Seal flush low-flow alarm annunciated; visible feed seal leak with low suction pressure. Pump auto-tripped on low discharge pressure.</a:t>
            </a:r>
          </a:p>
        </p:txBody>
      </p:sp>
      <p:sp>
        <p:nvSpPr>
          <p:cNvPr id="15" name="Oval 14"/>
          <p:cNvSpPr/>
          <p:nvPr/>
        </p:nvSpPr>
        <p:spPr>
          <a:xfrm>
            <a:off x="996696" y="32918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32461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12-Mar-2026 02:40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2461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Feed section reduced; charge to reactor curtailed pending seal repair. Rotating team mobilized.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2062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41605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12-Mar-2026 09:20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1605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Seal cartridge &amp; shaft sleeve inspected — seal faces heat-checked / worn (dry-running signature).</a:t>
            </a:r>
          </a:p>
        </p:txBody>
      </p:sp>
      <p:sp>
        <p:nvSpPr>
          <p:cNvPr id="21" name="Oval 20"/>
          <p:cNvSpPr/>
          <p:nvPr/>
        </p:nvSpPr>
        <p:spPr>
          <a:xfrm>
            <a:off x="996696" y="51206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50749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12-Mar-2026 20:45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50749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New seal cartridge installed, pump commissioned, feed restored to ± 13.6 T/H.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989320"/>
            <a:ext cx="10058400" cy="45720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5989320"/>
            <a:ext cx="96926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Problem: Mechanical seal of Feed Charge Pump PU-2101B failed on 12-Mar-2026, causing seal leakage and an unplanned feed reduction to the ARP reactor section.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ASSESS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Past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04/11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4480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HISTORICAL DATA &amp;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29200" cy="37490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PU-2101B seal MTBF trended down from 26 to 9 months over the last 3 cycles. Seal-flush flow had been intermittently below the 6 L/min design minimum during feed swings, indicating recurring dry-run exposure.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03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IMPACT SUMMARY (4W)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965960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1965960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What: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258568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Mechanical seal of PU-2101B leaked / failed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907792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907792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When: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200400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12-Mar-2026 (02:15)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849624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3849624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Scope: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142232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Reduced charge feed to ARP reactor section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4791456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4791456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Uptime Loss: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084064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18.5 hours  →  251.6 ton  →  $226.44k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TARGET SETTING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Actual vs Target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05/11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1234440"/>
          </a:xfrm>
          <a:prstGeom prst="rect">
            <a:avLst/>
          </a:prstGeom>
          <a:solidFill>
            <a:srgbClr val="FB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ACTUAL CONDITION (Before Improvement)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Feed reduction due to PU-2101B mechanical seal leak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5486400" cy="123444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7D32"/>
                </a:solidFill>
                <a:latin typeface="Calibri"/>
              </a:rPr>
              <a:t>TARGET CONDITION (Project 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No unplanned feed reduction due to PU-2101B seal failure (seal MTBF ≥ 24 months)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5486400" cy="155448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40740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TARGET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512064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Recurrence of this equipment failure mode: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     Before = 1 case   →   Target = 0 case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0" y="1417320"/>
          <a:ext cx="52120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f9c287cef08442bf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Parameter Verification (4P)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06/11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Phenomenon / Parameter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Pump operated above rated 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1766" y="1719072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7486" y="1719072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7547" y="1719072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3267" y="1719072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Operated at 13.1–13.7 T/H vs rated max 18 T/H — within limit.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32304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32304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32304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32304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Suction pressure below NPSH margin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1766" y="2432304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7486" y="2432304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27547" y="2432304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3267" y="2432304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Suction pressure dropped during feed swing; NPSH margin &lt; 0.5 m (spec ≥ 1.0 m) — cavitation risk.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45536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145536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145536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145536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Seal flush flow below minimum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31766" y="3145536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7486" y="3145536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27547" y="3145536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73267" y="3145536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Seal-flush flow measured 3–4 L/min vs 6 L/min minimum — seal ran dry intermittently.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58768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858768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858768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858768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Cooling water to seal cooler inadequate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1766" y="3858768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7486" y="3858768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27547" y="3858768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573267" y="3858768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Seal cooler outlet temp normal (42 °C) — cooling adequate.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572000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" y="4572000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12494" y="4572000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58214" y="4572000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Seal faces beyond service life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31766" y="4572000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7486" y="4572000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27547" y="4572000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73267" y="4572000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Seal in service 11 months, within 24-month design life.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NG = current condition not meeting standard (problem)   •   G = meets standard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4M + 1E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07/11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Man / Machine / Method / Material / Environment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No low-NPSH / flush-flow interlock in DCS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4335" y="1719072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0055" y="1719072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0116" y="1719072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5836" y="1719072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No automatic trip or alarm on loss of seal-flush flow.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68880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68880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68880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68880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Feed-swing SOP allows fast rate ramp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74335" y="2468880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0055" y="2468880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70116" y="2468880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15836" y="2468880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SOP permits &gt; 2 T/H per minute ramp, driving suction transients.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18688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218688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218688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218688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PM covers seal only, not flush system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5" y="3218688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0055" y="3218688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70116" y="3218688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15836" y="3218688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Seal-flush plan (Plan 11) not on the PM check-sheet.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968496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968496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968496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968496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Operator competency on seal-flush monitoring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4335" y="3968496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0055" y="3968496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70116" y="3968496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15836" y="3968496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Operators trained; no competency gap identified.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8640" y="5806440"/>
            <a:ext cx="146304" cy="56692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" y="580644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ROOT CAUSE:  Premature mechanical seal failure caused by intermittent dry-running: suction cavitation during feed swings reduced NPSH and seal-flush flow dropped below the 6 L/min minimum, with no interlock to protect the seal.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RCA — MATRIX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Impact vs Control Prioritization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08/11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554480"/>
            <a:ext cx="2468880" cy="1143000"/>
          </a:xfrm>
          <a:prstGeom prst="rect">
            <a:avLst/>
          </a:prstGeom>
          <a:solidFill>
            <a:srgbClr val="FFF3C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0" y="1554480"/>
            <a:ext cx="2468880" cy="1143000"/>
          </a:xfrm>
          <a:prstGeom prst="rect">
            <a:avLst/>
          </a:prstGeom>
          <a:solidFill>
            <a:srgbClr val="F8C47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1680" y="2697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697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solidFill>
            <a:srgbClr val="F6A85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11680" y="3840480"/>
            <a:ext cx="2468880" cy="1143000"/>
          </a:xfrm>
          <a:prstGeom prst="rect">
            <a:avLst/>
          </a:prstGeom>
          <a:solidFill>
            <a:srgbClr val="CFE8C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60" y="3840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X1  X2  X3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P2  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67528"/>
            <a:ext cx="74066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IMPACT  →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640080" y="1554480"/>
            <a:ext cx="1280160" cy="3429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CONTROL 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1554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2697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40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806440"/>
            <a:ext cx="859536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94560" y="5806440"/>
            <a:ext cx="82296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Prioritized root causes (high impact) are addressed first via Corrective &amp; Pro-Active Actions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Corrective &amp; Pro-Active Action (CAPAA)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09/11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19072"/>
            <a:ext cx="66385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171907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2494" y="1719072"/>
            <a:ext cx="60853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58214" y="171907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Install seal-flush flow switch with DCS alarm on PU-2101B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7826" y="1719072"/>
            <a:ext cx="1438351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43546" y="171907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24-Apr-2026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6177" y="1719072"/>
            <a:ext cx="110642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81897" y="171907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42601" y="1719072"/>
            <a:ext cx="177027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88321" y="171907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E68A00"/>
                </a:solidFill>
                <a:latin typeface="Calibri"/>
              </a:rPr>
              <a:t>In Progress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542032"/>
            <a:ext cx="66385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254203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2494" y="2542032"/>
            <a:ext cx="6085332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58214" y="254203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low-NPSH / loss-of-flush trip interlock in DCS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7826" y="2542032"/>
            <a:ext cx="1438351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3546" y="254203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24-May-2026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6177" y="2542032"/>
            <a:ext cx="110642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81897" y="254203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42601" y="2542032"/>
            <a:ext cx="1770278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88321" y="254203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547872"/>
            <a:ext cx="109728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PRO-ACTIVE ACTION (roll-out to similar equipment)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Pro-Active 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242816"/>
            <a:ext cx="66385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242816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12494" y="4242816"/>
            <a:ext cx="60853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58214" y="4242816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Roll out flush-flow switch to PU-2101A spare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7826" y="4242816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43546" y="4242816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24-May-2026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6177" y="4242816"/>
            <a:ext cx="110642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781897" y="4242816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42601" y="4242816"/>
            <a:ext cx="177027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88321" y="4242816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901184"/>
            <a:ext cx="66385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" y="4901184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12494" y="4901184"/>
            <a:ext cx="6085332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58214" y="4901184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Apply interlock standard to all API-682 seal pumps in ARP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97826" y="4901184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43546" y="4901184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24-Jul-2026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36177" y="4901184"/>
            <a:ext cx="110642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81897" y="4901184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42601" y="4901184"/>
            <a:ext cx="177027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888321" y="4901184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Preventive &amp; 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10/11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PREVENTIVE / PRO-ACTIVE ACTION (Good Condition Parameters)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Possible Root Cause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Preventive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920240"/>
            <a:ext cx="7744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1920240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3136" y="1920240"/>
            <a:ext cx="265541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8856" y="1920240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Suction cavitation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8553" y="1920240"/>
            <a:ext cx="486826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4273" y="1920240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Revise feed-swing SOP to cap ramp at 1 T/H per minute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46818" y="1920240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2538" y="1920240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24-Apr-2026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85169" y="1920240"/>
            <a:ext cx="13277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0889" y="1920240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ROT-01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578608"/>
            <a:ext cx="774496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2578608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23136" y="2578608"/>
            <a:ext cx="2655417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68856" y="2578608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Flush system not in PM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8553" y="2578608"/>
            <a:ext cx="4868265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4273" y="2578608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seal-flush system (Plan 11) to PU-2101B PM check-sheet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46818" y="2578608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92538" y="2578608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24-Apr-2026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85169" y="2578608"/>
            <a:ext cx="132770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30889" y="2578608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465576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RISK ANALYSIS OF CORRECTIVE 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Potential Risk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Countermeasure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Install flow switch &amp; interlock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46627" y="4160520"/>
            <a:ext cx="265541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92347" y="4160520"/>
            <a:ext cx="256397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Nuisance trips during commissioning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2044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47764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Stage commissioning with bypass timer &amp; operator brief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00031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45751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24-May-2026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06455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552175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PM SCHEDULE ESTABLISHED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PM No.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Group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Interval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751576"/>
            <a:ext cx="110642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5751576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55064" y="5751576"/>
            <a:ext cx="685982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700784" y="5751576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Weekly seal-flush flow &amp; seal-pot level check PU-2101B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14892" y="5751576"/>
            <a:ext cx="177027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560612" y="5751576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Rotating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285170" y="5751576"/>
            <a:ext cx="13277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330890" y="5751576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Weekly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6062472"/>
            <a:ext cx="1106424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94360" y="6062472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55064" y="6062472"/>
            <a:ext cx="685982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700784" y="6062472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Quarterly seal condition &amp; shaft run-out inspection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14892" y="6062472"/>
            <a:ext cx="177027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560612" y="6062472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Rotating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285170" y="6062472"/>
            <a:ext cx="132770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330890" y="6062472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3-monthly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AR-2026-ARP-0117  |  PU-2101B — ARP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Downtime &amp; Closure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97480" cy="9144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DOWNTIME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18.5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974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PRODUCTION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251.6 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97480" cy="91440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ESTIMATED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$226.44k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697480" cy="914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PRE-RISK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III (200)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ROOT CAUSE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20440"/>
            <a:ext cx="5029200" cy="2468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Premature mechanical seal failure caused by intermittent dry-running: suction cavitation during feed swings reduced NPSH and seal-flush flow dropped below the 6 L/min minimum, with no interlock to protect the seal.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KEY CORRECTIVE / PRO-ACTIVE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118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Install seal-flush flow switch with DCS alarm on PU-2101B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Add low-NPSH / loss-of-flush trip interlock in DCS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Revise feed-swing SOP to cap ramp at 1 T/H per minute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10972800" cy="1795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D9E1F2"/>
                </a:solidFill>
                <a:latin typeface="Calibri"/>
              </a:rPr>
              <a:t>AR-2026-ARP-0117   •   PU-2101B — ARP</a:t>
            </a:r>
            <a:endParaRPr lang="en-US" sz="1000" b="0" i="1">
              <a:solidFill>
                <a:srgbClr val="D9E1F2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78240" y="0"/>
            <a:ext cx="73152" cy="685800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B01E"/>
                </a:solidFill>
                <a:latin typeface="Calibri"/>
              </a:rPr>
              <a:t>ABNORMALITY REPORT — RCA &amp; CAPA/PAA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768096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9E1F2"/>
                </a:solidFill>
                <a:latin typeface="Calibri"/>
              </a:rPr>
              <a:t>Equipment Related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7680960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Cracked Gas Compressor KO-3201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F2B01E"/>
                </a:solidFill>
                <a:latin typeface="Georgia"/>
              </a:rPr>
              <a:t>High Radial Vibration Trip (Bearing Distress)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463040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AR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700784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AR-2026-ZCU-0142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249424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TAG / PLANT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487168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KO-3201  |  ZCU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035808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DATE OCCURRENCE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273552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29 Apr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822192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PRE-RISK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059936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II  (Score 4000)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608576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PIC (RCA)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846320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REL-05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9E1F2"/>
                </a:solidFill>
                <a:latin typeface="Calibri"/>
              </a:rPr>
              <a:t>Procedure No. RCA-P-0050-03  •  Form RCA-F-0075-02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PROBLEM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AR Details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02/11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AR IDENTIFICATION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28216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51760" y="1728216"/>
            <a:ext cx="4297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728216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Title /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28216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Cracked Gas Compressor KO-3201 — High Radial Vibration Trip (Bearing Distress)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7685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51760" y="2276856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27685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AR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27685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OPEDR (Operation) — Uptime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60904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51760" y="2660904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660904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Plant /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660904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ZCU  (Zeta Cracker Unit)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44952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51760" y="3044952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044952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Tag / Eq.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044952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KO-3201  |  Class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29000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51760" y="3429000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429000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Discipline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429000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13048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51760" y="3813048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813048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Occurrence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813048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29 Apr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19709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51760" y="4197096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19709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Reported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19709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30 Apr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81144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51760" y="4581144"/>
            <a:ext cx="4297680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581144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Immediate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581144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Controlled shutdown of compression train, replace DE journal bearing, flush lube-oil system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315200" y="137160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3465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SEVERITY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465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Catastrophic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784080" y="1371600"/>
            <a:ext cx="109728" cy="105156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0353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PRE-RISK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353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II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315200" y="2560320"/>
            <a:ext cx="109728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3465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DOWNTIME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32.0 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784080" y="2560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0353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LOSS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353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$1584.0k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3794760"/>
            <a:ext cx="4297680" cy="23317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4279392"/>
            <a:ext cx="3931920" cy="1737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Cracked Gas Compressor KO-3201 tripped on high-high radial vibration on 29-Apr-2026 due to journal-bearing babbitt distress driven by water-contaminated lube oil.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AR-2026-ZCU-0142  |  KO-3201 — ZCU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GENERAL PROCESS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Chronology of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03/11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36576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6696" y="1463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417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27-Apr-2026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4173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ZCU compression train running normal; KO-3201 drive-end (DE) radial vibration trending up (from 28 to 52 micron over 5 days).</a:t>
            </a:r>
          </a:p>
        </p:txBody>
      </p:sp>
      <p:sp>
        <p:nvSpPr>
          <p:cNvPr id="12" name="Oval 11"/>
          <p:cNvSpPr/>
          <p:nvPr/>
        </p:nvSpPr>
        <p:spPr>
          <a:xfrm>
            <a:off x="996696" y="23774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23317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29-Apr-2026 06:40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3317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KO-3201 DE vibration reached high-high setpoint (75 micron); machinery protection system tripped the compressor.</a:t>
            </a:r>
          </a:p>
        </p:txBody>
      </p:sp>
      <p:sp>
        <p:nvSpPr>
          <p:cNvPr id="15" name="Oval 14"/>
          <p:cNvSpPr/>
          <p:nvPr/>
        </p:nvSpPr>
        <p:spPr>
          <a:xfrm>
            <a:off x="996696" y="32918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32461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29-Apr-2026 08:10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2461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Plant rate cut to minimum; lube-oil sample taken — water content 1,800 ppm (spec &lt; 500 ppm).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2062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41605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29-Apr-2026 18:00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1605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DE journal bearing removed — babbitt wiped/distressed. Lube-oil cooler tube leak confirmed.</a:t>
            </a:r>
          </a:p>
        </p:txBody>
      </p:sp>
      <p:sp>
        <p:nvSpPr>
          <p:cNvPr id="21" name="Oval 20"/>
          <p:cNvSpPr/>
          <p:nvPr/>
        </p:nvSpPr>
        <p:spPr>
          <a:xfrm>
            <a:off x="996696" y="51206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50749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30-Apr-2026 14:40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50749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New bearing installed, lube-oil system flushed, cooler tube plugged, train restarted to 55 T/H.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989320"/>
            <a:ext cx="10058400" cy="45720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5989320"/>
            <a:ext cx="96926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Problem: Cracked Gas Compressor KO-3201 tripped on high-high radial vibration on 29-Apr-2026 due to journal-bearing babbitt distress driven by water-contaminated lube oil.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AR-2026-ZCU-0142  |  KO-3201 — ZCU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ASSESS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Past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04/11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4480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HISTORICAL DATA &amp;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29200" cy="37490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KO-3201 DE vibration baseline is 25–30 micron. Trend shows a steady rise over 5 days preceding the trip. Lube-oil water content had drifted above 500 ppm for ~2 weeks without an online alarm.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03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IMPACT SUMMARY (4W)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965960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1965960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What: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258568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KO-3201 tripped on high-high radial vibration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907792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907792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When: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200400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29-Apr-2026 (06:40)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849624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3849624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Scope: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142232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ZCU compression train shutdown — full ethylene rate loss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4791456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4791456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Uptime Loss: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084064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32.0 hours  →  1760.0 ton  →  $1584.0k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AR-2026-ZCU-0142  |  KO-3201 — ZCU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TARGET SETTING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Actual vs Target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05/11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1234440"/>
          </a:xfrm>
          <a:prstGeom prst="rect">
            <a:avLst/>
          </a:prstGeom>
          <a:solidFill>
            <a:srgbClr val="FB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ACTUAL CONDITION (Before Improvement)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Compressor trip due to bearing distress from contaminated lube oil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5486400" cy="123444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7D32"/>
                </a:solidFill>
                <a:latin typeface="Calibri"/>
              </a:rPr>
              <a:t>TARGET CONDITION (Project 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No compressor trip due to lube-oil contamination (water &lt; 500 ppm, vibration &lt; 45 micron)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5486400" cy="155448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40740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TARGET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512064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Recurrence of this equipment failure mode: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     Before = 1 case   →   Target = 0 case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0" y="1417320"/>
          <a:ext cx="52120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c20b2c2f77004906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AR-2026-ZCU-0142  |  KO-3201 — ZCU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Parameter Verification (4P)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06/11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Phenomenon / Parameter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Radial vibration above alarm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1766" y="1719072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7486" y="1719072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7547" y="1719072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3267" y="1719072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DE vibration rose to 75 micron vs 45 micron alarm — bearing distress.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32304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32304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32304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32304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Lube-oil water content above spec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1766" y="2432304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7486" y="2432304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27547" y="2432304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3267" y="2432304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Water content 1,800 ppm vs &lt; 500 ppm spec — film breakdown.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45536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145536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145536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145536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Lube-oil supply pressure 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31766" y="3145536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7486" y="3145536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27547" y="3145536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73267" y="3145536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Header pressure 1.8 barg — within normal band.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58768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858768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858768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858768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Bearing beyond service life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1766" y="3858768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7486" y="3858768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27547" y="3858768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573267" y="3858768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Bearing in service 3 years vs 6-year design — within life.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572000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" y="4572000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12494" y="4572000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58214" y="4572000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Process surge / anti-surge margin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31766" y="4572000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7486" y="4572000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27547" y="4572000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73267" y="4572000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Anti-surge margin maintained; no surge event recorded.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NG = current condition not meeting standard (problem)   •   G = meets standard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AR-2026-ZCU-0142  |  KO-3201 — ZCU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4M + 1E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07/11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Man / Machine / Method / Material / Environment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No online water-in-oil monitoring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4335" y="1719072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0055" y="1719072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0116" y="1719072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5836" y="1719072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Water content only checked by weekly grab sample — slow detection.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68880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68880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68880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68880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Lube-oil cooler integrity not trended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74335" y="2468880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0055" y="2468880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70116" y="2468880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15836" y="2468880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No routine cooler tube leak check between TAs.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18688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218688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218688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218688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Vibration alert limits too wide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5" y="3218688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0055" y="3218688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70116" y="3218688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15836" y="3218688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Alert at 60 micron gave little lead time before 75 micron trip.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968496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968496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968496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968496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Lube-oil purifier not in service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4335" y="3968496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0055" y="3968496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70116" y="3968496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15836" y="3968496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Purifier available and operational.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8640" y="5806440"/>
            <a:ext cx="146304" cy="56692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" y="580644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ROOT CAUSE:  Journal-bearing babbitt distress caused by degraded oil-film strength from water ingress via a leaking lube-oil cooler tube, undetected due to absence of online water-in-oil monitoring, leading to rising vibration and a high-high trip.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AR-2026-ZCU-0142  |  KO-3201 — ZCU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RCA — MATRIX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Impact vs Control Prioritization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08/11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554480"/>
            <a:ext cx="2468880" cy="1143000"/>
          </a:xfrm>
          <a:prstGeom prst="rect">
            <a:avLst/>
          </a:prstGeom>
          <a:solidFill>
            <a:srgbClr val="FFF3C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0" y="1554480"/>
            <a:ext cx="2468880" cy="1143000"/>
          </a:xfrm>
          <a:prstGeom prst="rect">
            <a:avLst/>
          </a:prstGeom>
          <a:solidFill>
            <a:srgbClr val="F8C47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1680" y="2697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697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solidFill>
            <a:srgbClr val="F6A85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11680" y="3840480"/>
            <a:ext cx="2468880" cy="1143000"/>
          </a:xfrm>
          <a:prstGeom prst="rect">
            <a:avLst/>
          </a:prstGeom>
          <a:solidFill>
            <a:srgbClr val="CFE8C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60" y="3840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X1  X2  X3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P1  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67528"/>
            <a:ext cx="74066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IMPACT  →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640080" y="1554480"/>
            <a:ext cx="1280160" cy="3429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CONTROL 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1554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2697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40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806440"/>
            <a:ext cx="859536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94560" y="5975603"/>
            <a:ext cx="8229600" cy="21031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Prioritized root causes (high impact) are addressed first via Corrective &amp; Pro-Active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AR-2026-ZCU-0142  |  KO-3201 — ZCU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Corrective &amp; Pro-Active Action (CAPAA)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09/11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19072"/>
            <a:ext cx="66385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171907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2494" y="1719072"/>
            <a:ext cx="60853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58214" y="171907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Repair leaking lube-oil cooler tube (plug + re-test)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7826" y="1719072"/>
            <a:ext cx="1438351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43546" y="171907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30-Apr-2026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6177" y="1719072"/>
            <a:ext cx="110642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81897" y="171907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STA-02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42601" y="1719072"/>
            <a:ext cx="177027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88321" y="171907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E7D32"/>
                </a:solidFill>
                <a:latin typeface="Calibri"/>
              </a:rPr>
              <a:t>Closed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542032"/>
            <a:ext cx="66385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254203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2494" y="2542032"/>
            <a:ext cx="6085332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58214" y="254203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Install online water-in-oil sensor on KO-3201 lube system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7826" y="2542032"/>
            <a:ext cx="1438351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3546" y="254203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30-Jun-2026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6177" y="2542032"/>
            <a:ext cx="110642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81897" y="254203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42601" y="2542032"/>
            <a:ext cx="1770278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88321" y="254203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E68A00"/>
                </a:solidFill>
                <a:latin typeface="Calibri"/>
              </a:rPr>
              <a:t>In Progress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547872"/>
            <a:ext cx="109728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PRO-ACTIVE ACTION (roll-out to similar equipment)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Pro-Active 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242816"/>
            <a:ext cx="66385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242816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12494" y="4242816"/>
            <a:ext cx="60853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58214" y="4242816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Retube lube-oil cooler at next TA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7826" y="4242816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43546" y="4242816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31-Oct-2026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6177" y="4242816"/>
            <a:ext cx="110642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781897" y="4242816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STA-02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42601" y="4242816"/>
            <a:ext cx="177027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88321" y="4242816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901184"/>
            <a:ext cx="66385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" y="4901184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12494" y="4901184"/>
            <a:ext cx="6085332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58214" y="4901184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Apply online water-in-oil monitoring to KO-3202/3203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97826" y="4901184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43546" y="4901184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30-Sep-2026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36177" y="4901184"/>
            <a:ext cx="110642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81897" y="4901184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42601" y="4901184"/>
            <a:ext cx="177027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888321" y="4901184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AR-2026-ZCU-0142  |  KO-3201 — ZCU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Preventive &amp; 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10/11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PREVENTIVE / PRO-ACTIVE ACTION (Good Condition Parameters)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Possible Root Cause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Preventive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920240"/>
            <a:ext cx="7744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1920240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3136" y="1920240"/>
            <a:ext cx="265541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8856" y="1920240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Vibration limits too wide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8553" y="1920240"/>
            <a:ext cx="486826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4273" y="1920240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Tighten KO-3201 vibration alert to 45 micron &amp; shorten trend-review cadence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46818" y="1920240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2538" y="1920240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30-May-2026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85169" y="1920240"/>
            <a:ext cx="13277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0889" y="1920240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578608"/>
            <a:ext cx="774496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2578608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23136" y="2578608"/>
            <a:ext cx="2655417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68856" y="2578608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Cooler integrity not trended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8553" y="2578608"/>
            <a:ext cx="4868265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4273" y="2578608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lube-oil cooler dP &amp; conductivity trend to reliability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46818" y="2578608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92538" y="2578608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30-Jun-2026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85169" y="2578608"/>
            <a:ext cx="132770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30889" y="2578608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465576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RISK ANALYSIS OF CORRECTIVE 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Potential Risk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Countermeasure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Tighten vibration alert to 45 micron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46627" y="4160520"/>
            <a:ext cx="265541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92347" y="4160520"/>
            <a:ext cx="256397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Nuisance alerts on start-up transients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2044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47764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start-up alarm suppression timer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00031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45751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30-May-2026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06455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552175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PM SCHEDULE ESTABLISHED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PM No.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Group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Interval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751576"/>
            <a:ext cx="110642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5751576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55064" y="5751576"/>
            <a:ext cx="685982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700784" y="5751576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Weekly lube-oil water-content &amp; particle count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14892" y="5751576"/>
            <a:ext cx="177027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560612" y="5751576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Reliability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285170" y="5751576"/>
            <a:ext cx="13277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330890" y="5751576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Weekly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6062472"/>
            <a:ext cx="1106424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94360" y="6062472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55064" y="6062472"/>
            <a:ext cx="685982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700784" y="6062472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6-monthly lube-oil cooler leak test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14892" y="6062472"/>
            <a:ext cx="177027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560612" y="6062472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Static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285170" y="6062472"/>
            <a:ext cx="132770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330890" y="6062472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6-monthly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6373368"/>
            <a:ext cx="110642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94360" y="6373368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655064" y="6373368"/>
            <a:ext cx="685982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700784" y="6373368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Continuous vibration trend review KO-3201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14892" y="6373368"/>
            <a:ext cx="177027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560612" y="6373368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Reliability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285170" y="6373368"/>
            <a:ext cx="13277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330890" y="6373368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Daily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Downtime &amp; Closure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97480" cy="9144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DOWNTIME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32.0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974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PRODUCTION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1760.0 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97480" cy="91440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ESTIMATED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$1584.0k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697480" cy="914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PRE-RISK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II (4000)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ROOT CAUSE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20440"/>
            <a:ext cx="5029200" cy="2468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Journal-bearing babbitt distress caused by degraded oil-film strength from water ingress via a leaking lube-oil cooler tube, undetected due to absence of online water-in-oil monitoring, leading to rising vibration and a high-high trip.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KEY CORRECTIVE / PRO-ACTIVE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118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Repair leaking lube-oil cooler tube (plug + re-test)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Install online water-in-oil sensor on KO-3201 lube system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Tighten KO-3201 vibration alert to 45 micron &amp; shorten trend-review cadence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10972800" cy="1795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D9E1F2"/>
                </a:solidFill>
                <a:latin typeface="Calibri"/>
              </a:rPr>
              <a:t>AR-2026-ZCU-0142   •   KO-3201 — ZCU</a:t>
            </a:r>
            <a:endParaRPr lang="en-US" sz="1000" b="0" i="1">
              <a:solidFill>
                <a:srgbClr val="D9E1F2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78240" y="0"/>
            <a:ext cx="73152" cy="685800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B01E"/>
                </a:solidFill>
                <a:latin typeface="Calibri"/>
              </a:rPr>
              <a:t>ABNORMALITY REPORT — RCA &amp; CAPA/PAA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768096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9E1F2"/>
                </a:solidFill>
                <a:latin typeface="Calibri"/>
              </a:rPr>
              <a:t>Equipment Related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7680960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Cooling Water Pump PM-4405B (Motor Driven)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F2B01E"/>
                </a:solidFill>
                <a:latin typeface="Georgia"/>
              </a:rPr>
              <a:t>Motor Bearing Failure (Overheating)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463040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AR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700784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AR-2026-NUP-0089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249424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TAG / PLANT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487168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PM-4405B  |  NUP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035808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DATE OCCURRENCE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273552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08 Jul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822192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PRE-RISK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059936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III  (Score 200)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608576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PIC (RCA)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846320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REL-02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9E1F2"/>
                </a:solidFill>
                <a:latin typeface="Calibri"/>
              </a:rPr>
              <a:t>Procedure No. RCA-P-0050-03  •  Form RCA-F-0075-02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PROBLEM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AR Details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02/11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AR IDENTIFICATION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28216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51760" y="1728216"/>
            <a:ext cx="4297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728216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Title /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28216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Cooling Water Pump PM-4405B (Motor Driven) — Motor Bearing Failure (Overheating)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7685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51760" y="2276856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27685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AR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27685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OPEDR (Operation) — Uptime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60904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51760" y="2660904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660904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Plant /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660904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NUP  (Nova Utility Plant)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44952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51760" y="3044952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044952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Tag / Eq.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044952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PM-4405B  |  Class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29000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51760" y="3429000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429000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Discipline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429000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ELE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13048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51760" y="3813048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813048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Occurrence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813048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08 Jul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19709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51760" y="4197096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19709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Reported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19709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08 Jul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81144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51760" y="4581144"/>
            <a:ext cx="4297680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581144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Immediate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581144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Start standby CW pump PM-4405C, isolate PM-4405B, replace motor DE &amp; NDE bearings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315200" y="1371600"/>
            <a:ext cx="109728" cy="105156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3465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SEVERITY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465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Moderate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784080" y="1371600"/>
            <a:ext cx="109728" cy="105156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0353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PRE-RISK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353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III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315200" y="2560320"/>
            <a:ext cx="109728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3465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DOWNTIME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8.0 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784080" y="2560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0353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LOSS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353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$112.0k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3794760"/>
            <a:ext cx="4297680" cy="23317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4279392"/>
            <a:ext cx="3931920" cy="1737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Cooling Water Pump PM-4405B motor tripped on 08-Jul-2026 due to drive-end bearing failure from grease degradation and an over-extended re-lubrication interval.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GENERAL PROCESS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Chronology of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03/11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36576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6696" y="1463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417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06-Jul-2026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4173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Cooling-water system running on PM-4405B; motor DE bearing temperature trending up (68 → 84 °C).</a:t>
            </a:r>
          </a:p>
        </p:txBody>
      </p:sp>
      <p:sp>
        <p:nvSpPr>
          <p:cNvPr id="12" name="Oval 11"/>
          <p:cNvSpPr/>
          <p:nvPr/>
        </p:nvSpPr>
        <p:spPr>
          <a:xfrm>
            <a:off x="996696" y="23774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23317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08-Jul-2026 13:20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3317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Motor bearing high-temperature alarm; motor tripped on winding/bearing over-temp.</a:t>
            </a:r>
          </a:p>
        </p:txBody>
      </p:sp>
      <p:sp>
        <p:nvSpPr>
          <p:cNvPr id="15" name="Oval 14"/>
          <p:cNvSpPr/>
          <p:nvPr/>
        </p:nvSpPr>
        <p:spPr>
          <a:xfrm>
            <a:off x="996696" y="32918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32461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08-Jul-2026 13:35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2461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Standby PM-4405C started; cooling-water supply maintained at reduced margin.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2062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41605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08-Jul-2026 16:00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1605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Motor DE bearing found seized; grease degraded/carbonized. NDE bearing marginal.</a:t>
            </a:r>
          </a:p>
        </p:txBody>
      </p:sp>
      <p:sp>
        <p:nvSpPr>
          <p:cNvPr id="21" name="Oval 20"/>
          <p:cNvSpPr/>
          <p:nvPr/>
        </p:nvSpPr>
        <p:spPr>
          <a:xfrm>
            <a:off x="996696" y="51206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50749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08-Jul-2026 21:20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50749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DE &amp; NDE bearings replaced and re-greased; motor recommissioned.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989320"/>
            <a:ext cx="10058400" cy="45720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5989320"/>
            <a:ext cx="96926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Problem: Cooling Water Pump PM-4405B motor tripped on 08-Jul-2026 due to drive-end bearing failure from grease degradation and an over-extended re-lubrication interval.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ASSESS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Past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04/11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4480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HISTORICAL DATA &amp;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29200" cy="37490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PM-4405B motor bearing temperature baseline is 60–68 °C. Re-lubrication was performed on a fixed 12-month interval regardless of duty/ambient. Bearing temperature was not trended in CMMS, so degradation went unnoticed.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03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IMPACT SUMMARY (4W)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965960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1965960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What: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258568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PM-4405B motor DE bearing failed / overheated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907792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907792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When: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200400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08-Jul-2026 (13:20)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849624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3849624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Scope: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142232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Loss of one cooling-water pump; reduced CW margin (standby covered)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4791456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4791456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Uptime Loss: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084064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8.0 hours  →  160.0 ton  →  $112.0k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TARGET SETTING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Actual vs Target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05/11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1234440"/>
          </a:xfrm>
          <a:prstGeom prst="rect">
            <a:avLst/>
          </a:prstGeom>
          <a:solidFill>
            <a:srgbClr val="FB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ACTUAL CONDITION (Before Improvement)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CW pump motor trip due to bearing overheating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5486400" cy="123444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7D32"/>
                </a:solidFill>
                <a:latin typeface="Calibri"/>
              </a:rPr>
              <a:t>TARGET CONDITION (Project 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No motor bearing failure due to lubrication (bearing temp &lt; 75 °C, risk-based re-greasing)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5486400" cy="155448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40740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TARGET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512064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Recurrence of this equipment failure mode: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     Before = 1 case   →   Target = 0 case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0" y="1417320"/>
          <a:ext cx="52120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6bede1824327401b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Parameter Verification (4P)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06/11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Phenomenon / Parameter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Motor bearing temperature above limit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1766" y="1719072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7486" y="1719072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7547" y="1719072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3267" y="1719072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DE bearing reached 84 °C vs 75 °C alarm — grease breakdown.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32304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32304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32304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32304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Motor over-loaded (high ampere)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1766" y="2432304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7486" y="2432304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27547" y="2432304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3267" y="2432304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Running current 132 A vs 150 A rated — within limit.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45536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145536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145536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145536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Cooling-fan / ventilation blocked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31766" y="3145536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7486" y="3145536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27547" y="3145536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73267" y="3145536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Fan cowl clean; ambient ventilation adequate.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58768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858768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858768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858768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Grease type incorrect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1766" y="3858768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7486" y="3858768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27547" y="3858768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573267" y="3858768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Correct high-temp lithium-complex grease used.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572000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" y="4572000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12494" y="4572000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58214" y="4572000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Bearing beyond service life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31766" y="4572000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7486" y="4572000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27547" y="4572000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73267" y="4572000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Bearing in service 2 years vs 5-year design — within life.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NG = current condition not meeting standard (problem)   •   G = meets standard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4M + 1E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07/11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Man / Machine / Method / Material / Environment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Re-lubrication interval not risk-based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4335" y="1719072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0055" y="1719072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0116" y="1719072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5836" y="1719072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Fixed 12-month interval too long for duty &amp; ambient — grease degraded.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68880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68880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68880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68880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Bearing temperature not trended in CMMS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74335" y="2468880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0055" y="2468880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70116" y="2468880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15836" y="2468880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No condition-based trigger; only alarm at failure point.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18688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218688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218688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218688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Vibration route excludes utility motors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5" y="3218688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0055" y="3218688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70116" y="3218688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15836" y="3218688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PM-4405B not on the monthly vibration route.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968496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968496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968496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968496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Operator round frequency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4335" y="3968496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0055" y="3968496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70116" y="3968496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15836" y="3968496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Rounds performed per schedule; local gauge read.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8640" y="5806440"/>
            <a:ext cx="146304" cy="56692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" y="580644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ROOT CAUSE:  Motor drive-end bearing failure caused by grease degradation from an over-extended, non-risk-based re-lubrication interval, undetected due to absence of bearing-temperature trending, resulting in bearing overheating and motor trip.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RCA — MATRIX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Impact vs Control Prioritization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08/11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554480"/>
            <a:ext cx="2468880" cy="1143000"/>
          </a:xfrm>
          <a:prstGeom prst="rect">
            <a:avLst/>
          </a:prstGeom>
          <a:solidFill>
            <a:srgbClr val="FFF3C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0" y="1554480"/>
            <a:ext cx="2468880" cy="1143000"/>
          </a:xfrm>
          <a:prstGeom prst="rect">
            <a:avLst/>
          </a:prstGeom>
          <a:solidFill>
            <a:srgbClr val="F8C47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1680" y="2697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697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solidFill>
            <a:srgbClr val="F6A85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11680" y="3840480"/>
            <a:ext cx="2468880" cy="1143000"/>
          </a:xfrm>
          <a:prstGeom prst="rect">
            <a:avLst/>
          </a:prstGeom>
          <a:solidFill>
            <a:srgbClr val="CFE8C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60" y="3840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X1  X2  X3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67528"/>
            <a:ext cx="74066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IMPACT  →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640080" y="1554480"/>
            <a:ext cx="1280160" cy="3429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CONTROL 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1554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2697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40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806440"/>
            <a:ext cx="859536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94560" y="5806440"/>
            <a:ext cx="82296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Prioritized root causes (high impact) are addressed first via Corrective &amp; Pro-Active Actions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Corrective &amp; Pro-Active Action (CAPAA)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09/11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19072"/>
            <a:ext cx="66385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171907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2494" y="1719072"/>
            <a:ext cx="60853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58214" y="171907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Revise PM-4405B re-lubrication interval to risk-based (4-monthly)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7826" y="1719072"/>
            <a:ext cx="1438351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43546" y="171907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31-Jul-2026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6177" y="1719072"/>
            <a:ext cx="110642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81897" y="171907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42601" y="1719072"/>
            <a:ext cx="177027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88321" y="171907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E68A00"/>
                </a:solidFill>
                <a:latin typeface="Calibri"/>
              </a:rPr>
              <a:t>In Progress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542032"/>
            <a:ext cx="66385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254203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2494" y="2542032"/>
            <a:ext cx="6085332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58214" y="254203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motor bearing temperature trending &amp; alert to CMMS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7826" y="2542032"/>
            <a:ext cx="1438351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3546" y="254203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31-Aug-2026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6177" y="2542032"/>
            <a:ext cx="110642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81897" y="254203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42601" y="2542032"/>
            <a:ext cx="1770278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88321" y="254203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547872"/>
            <a:ext cx="109728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PRO-ACTIVE ACTION (roll-out to similar equipment)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Pro-Active 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242816"/>
            <a:ext cx="66385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242816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12494" y="4242816"/>
            <a:ext cx="60853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58214" y="4242816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Apply risk-based re-greasing to all CW pump motors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7826" y="4242816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43546" y="4242816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31-Aug-2026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6177" y="4242816"/>
            <a:ext cx="110642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781897" y="4242816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42601" y="4242816"/>
            <a:ext cx="177027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88321" y="4242816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901184"/>
            <a:ext cx="66385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" y="4901184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12494" y="4901184"/>
            <a:ext cx="6085332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58214" y="4901184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Extend bearing-temp trending to utility motor fleet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97826" y="4901184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43546" y="4901184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30-Sep-2026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36177" y="4901184"/>
            <a:ext cx="110642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81897" y="4901184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42601" y="4901184"/>
            <a:ext cx="177027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888321" y="4901184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Preventive &amp; 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10/11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PREVENTIVE / PRO-ACTIVE ACTION (Good Condition Parameters)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Possible Root Cause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Preventive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920240"/>
            <a:ext cx="7744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1920240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3136" y="1920240"/>
            <a:ext cx="265541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8856" y="1920240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Motor not on vibration route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8553" y="1920240"/>
            <a:ext cx="486826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4273" y="1920240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PM-4405B/C to monthly vibration &amp; thermography route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46818" y="1920240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2538" y="1920240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31-Jul-2026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85169" y="1920240"/>
            <a:ext cx="13277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0889" y="1920240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578608"/>
            <a:ext cx="774496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2578608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23136" y="2578608"/>
            <a:ext cx="2655417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68856" y="2578608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Bearing over-temp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8553" y="2578608"/>
            <a:ext cx="4868265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4273" y="2578608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Verify motor cooling-fan &amp; louvre condition each PM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46818" y="2578608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92538" y="2578608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31-Jul-2026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85169" y="2578608"/>
            <a:ext cx="132770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30889" y="2578608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ELE-01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465576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RISK ANALYSIS OF CORRECTIVE 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Potential Risk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Countermeasure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Shorten re-greasing interval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46627" y="4160520"/>
            <a:ext cx="265541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92347" y="4160520"/>
            <a:ext cx="256397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Over-greasing risk (churning / seal push-out)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2044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47764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Use metered re-greasing per bearing volume calc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00031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45751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31-Jul-2026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06455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552175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PM SCHEDULE ESTABLISHED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PM No.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Group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Interval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751576"/>
            <a:ext cx="110642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5751576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55064" y="5751576"/>
            <a:ext cx="685982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700784" y="5751576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Risk-based motor bearing re-greasing PM-4405B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14892" y="5751576"/>
            <a:ext cx="177027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560612" y="5751576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Electrical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285170" y="5751576"/>
            <a:ext cx="13277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330890" y="5751576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4-monthly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6062472"/>
            <a:ext cx="1106424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94360" y="6062472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55064" y="6062472"/>
            <a:ext cx="685982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700784" y="6062472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Monthly motor bearing temperature &amp; vibration reading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14892" y="6062472"/>
            <a:ext cx="177027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560612" y="6062472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Reliability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285170" y="6062472"/>
            <a:ext cx="132770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330890" y="6062472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Monthly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Downtime &amp; Closure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97480" cy="9144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DOWNTIME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8.0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974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PRODUCTION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160.0 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97480" cy="91440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ESTIMATED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$112.0k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697480" cy="914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PRE-RISK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III (200)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ROOT CAUSE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20440"/>
            <a:ext cx="5029200" cy="2468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Motor drive-end bearing failure caused by grease degradation from an over-extended, non-risk-based re-lubrication interval, undetected due to absence of bearing-temperature trending, resulting in bearing overheating and motor trip.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KEY CORRECTIVE / PRO-ACTIVE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118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Revise PM-4405B re-lubrication interval to risk-based (4-monthly)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Add motor bearing temperature trending &amp; alert to CMMS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Add PM-4405B/C to monthly vibration &amp; thermography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10972800" cy="1795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D9E1F2"/>
                </a:solidFill>
                <a:latin typeface="Calibri"/>
              </a:rPr>
              <a:t>AR-2026-NUP-0089   •   PM-4405B — NUP </a:t>
            </a:r>
            <a:endParaRPr lang="en-US" sz="1000" b="0" i="1">
              <a:solidFill>
                <a:srgbClr val="D9E1F2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78240" y="0"/>
            <a:ext cx="73152" cy="685800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B01E"/>
                </a:solidFill>
                <a:latin typeface="Calibri"/>
              </a:rPr>
              <a:t>ABNORMALITY REPORT — RCA &amp; CAPA/PAA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1624" y="1051560"/>
            <a:ext cx="768096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9E1F2"/>
                </a:solidFill>
                <a:latin typeface="Calibri"/>
              </a:rPr>
              <a:t>Equipment Related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7680960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Feed/Effluent Heat Exchanger HE-3301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F2B01E"/>
                </a:solidFill>
                <a:latin typeface="Georgia"/>
              </a:rPr>
              <a:t>High Fouling — Duty Loss &amp; High dP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463040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AR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700784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AR-2026-ZCU-0165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249424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TAG / PLANT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487168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HE-3301  |  ZCU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035808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DATE OCCURRENCE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273552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21 May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822192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PRE-RISK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059936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III  (Score 400)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608576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PIC (RCA)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846320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STA-02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9E1F2"/>
                </a:solidFill>
                <a:latin typeface="Calibri"/>
              </a:rPr>
              <a:t>Procedure No. RCA-P-0050-03  •  Form RCA-F-0075-02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PROBLEM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AR Details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02/11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AR IDENTIFICATION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28216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51760" y="1728216"/>
            <a:ext cx="4297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728216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Title /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28216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Feed/Effluent Heat Exchanger HE-3301 — High Fouling — Duty Loss &amp; High dP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7685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51760" y="2276856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27685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AR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27685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OPEDR (Operation) — Uptime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60904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51760" y="2660904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660904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Plant /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660904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ZCU  (Zeta Cracker Unit)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44952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51760" y="3044952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044952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Tag / Eq.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044952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HE-3301  |  Class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29000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51760" y="3429000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429000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Discipline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429000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STA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13048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51760" y="3813048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813048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Occurrence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813048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21 May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19709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51760" y="4197096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19709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Reported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19709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22 May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81144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51760" y="4581144"/>
            <a:ext cx="4297680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581144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Immediate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581144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Isolate HE-3301, bypass via spare train, hydro-jet clean tube bundle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315200" y="1371600"/>
            <a:ext cx="109728" cy="105156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3465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SEVERITY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465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Moderate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784080" y="1371600"/>
            <a:ext cx="109728" cy="105156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0353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PRE-RISK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353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III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315200" y="2560320"/>
            <a:ext cx="109728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3465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DOWNTIME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12.0 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784080" y="2560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0353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LOSS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353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$183.6k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3794760"/>
            <a:ext cx="4297680" cy="23317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4279392"/>
            <a:ext cx="3931920" cy="1737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Feed/Effluent Heat Exchanger HE-3301 suffered accelerated tube-side fouling reducing duty and raising dP, forcing an unplanned isolation, cleaning and partial rate cut on 21-May-2026.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GENERAL PROCESS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Chronology of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03/11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36576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6696" y="1463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417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18-May-2026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417320"/>
            <a:ext cx="7863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Heat-recovery section running; HE-3301 tube-side dP rising (0.4 → 0.9 bar) and cold-outlet temperature falling.</a:t>
            </a:r>
          </a:p>
        </p:txBody>
      </p:sp>
      <p:sp>
        <p:nvSpPr>
          <p:cNvPr id="12" name="Oval 11"/>
          <p:cNvSpPr/>
          <p:nvPr/>
        </p:nvSpPr>
        <p:spPr>
          <a:xfrm>
            <a:off x="996696" y="2606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2560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21-May-2026 09:00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560320"/>
            <a:ext cx="7863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Preheat duty dropped ~35% below design; unit rate reduced to protect downstream. Exchanger isolated.</a:t>
            </a:r>
          </a:p>
        </p:txBody>
      </p:sp>
      <p:sp>
        <p:nvSpPr>
          <p:cNvPr id="15" name="Oval 14"/>
          <p:cNvSpPr/>
          <p:nvPr/>
        </p:nvSpPr>
        <p:spPr>
          <a:xfrm>
            <a:off x="996696" y="3749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3703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21-May-2026 11:30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703320"/>
            <a:ext cx="7863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Tube bundle inspected — heavy coke/polymer deposition on tube side.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892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4846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21-May-2026 21:00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846320"/>
            <a:ext cx="7863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Bundle hydro-jet cleaned and returned to service; duty and dP restored, rate ramped back to 30 T/H.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5989320"/>
            <a:ext cx="10058400" cy="45720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5989320"/>
            <a:ext cx="96926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Problem: Feed/Effluent Heat Exchanger HE-3301 suffered accelerated tube-side fouling reducing duty and raising dP, forcing an unplanned isolation, cleaning and partial rate cut on 21-May-2026.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ASSESS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Past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04/11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4480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HISTORICAL DATA &amp;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29200" cy="37490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HE-3301 tube-side dP baseline is 0.3–0.4 bar; heat duty design 100%. Over the run, dP climbed steadily while duty fell — a classic fouling curve. No dP-based cleaning trigger existed, so fouling was allowed to progress to a forced cut.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03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IMPACT SUMMARY (4W)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965960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1965960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What: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258568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HE-3301 duty loss &amp; high dP from tube-side fouling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907792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907792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When: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200400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21-May-2026 (09:00)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849624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3849624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Scope: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142232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Partial rate cut of ZCU heat-recovery section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4791456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4791456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Uptime Loss: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084064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12.0 hours  →  216.0 ton  →  $183.6k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TARGET SETTING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Actual vs Target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05/11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1234440"/>
          </a:xfrm>
          <a:prstGeom prst="rect">
            <a:avLst/>
          </a:prstGeom>
          <a:solidFill>
            <a:srgbClr val="FB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ACTUAL CONDITION (Before Improvement)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Rate cut due to HE-3301 fouling (duty loss + high dP)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5486400" cy="123444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7D32"/>
                </a:solidFill>
                <a:latin typeface="Calibri"/>
              </a:rPr>
              <a:t>TARGET CONDITION (Project 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No unplanned rate cut due to HE-3301 fouling (dP &lt; 0.6 bar, duty &gt; 90%)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5486400" cy="155448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40740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TARGET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512064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Recurrence of this equipment failure mode: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     Before = 1 case   →   Target = 0 case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0" y="1417320"/>
          <a:ext cx="52120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98c40ad041d6480f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Parameter Verification (4P)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06/11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Phenomenon / Parameter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Tube-side dP above limit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1766" y="1719072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7486" y="1719072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7547" y="1719072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3267" y="1719072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dP reached 0.9 bar vs 0.6 bar limit — heavy fouling.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32304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32304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32304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32304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Heat duty below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1766" y="2432304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7486" y="2432304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27547" y="2432304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3267" y="2432304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Duty fell to ~65% of design — loss of preheat.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45536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145536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145536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145536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Feed heavy-ends above spec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31766" y="3145536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7486" y="3145536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27547" y="3145536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73267" y="3145536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Heavy-ends 2.4% vs &lt; 1.5% design — increased fouling precursor.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58768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858768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858768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858768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Tube velocity below design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1766" y="3858768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7486" y="3858768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27547" y="3858768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573267" y="3858768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Tube velocity 1.9 m/s vs 1.5 m/s min — adequate.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572000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" y="4572000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12494" y="4572000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58214" y="4572000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Cooling/heating medium temperature off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31766" y="4572000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7486" y="4572000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27547" y="4572000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73267" y="4572000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Shell-side inlet temperature within normal band.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NG = current condition not meeting standard (problem)   •   G = meets standard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4M + 1E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07/11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Man / Machine / Method / Material / Environment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No dP-based cleaning trigger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4335" y="1719072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0055" y="1719072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0116" y="1719072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5836" y="1719072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Cleaning was time-based only; no dP alarm to trigger action.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68880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68880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68880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68880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Feed filtration performance not trended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74335" y="2468880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0055" y="2468880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70116" y="2468880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15836" y="2468880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Upstream filter dP not monitored, allowing heavy-ends carry-over.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18688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218688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218688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218688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Fouling KPI not on dashboard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5" y="3218688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0055" y="3218688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70116" y="3218688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15836" y="3218688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No fouling factor / duty KPI tracked between TAs.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968496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968496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968496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968496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Bundle metallurgy inadequate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4335" y="3968496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0055" y="3968496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70116" y="3968496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15836" y="3968496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Bundle metallurgy suitable for service.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8640" y="5806440"/>
            <a:ext cx="146304" cy="56692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" y="580644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ROOT CAUSE:  Accelerated tube-side coke/polymer fouling driven by higher-than-design feed heavy-ends, allowed to progress by the absence of a dP-based cleaning trigger and fouling KPI, causing duty loss, high dP and a forced rate cut.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RCA — MATRIX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Impact vs Control Prioritization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08/11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554480"/>
            <a:ext cx="2468880" cy="1143000"/>
          </a:xfrm>
          <a:prstGeom prst="rect">
            <a:avLst/>
          </a:prstGeom>
          <a:solidFill>
            <a:srgbClr val="FFF3C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0" y="1554480"/>
            <a:ext cx="2468880" cy="1143000"/>
          </a:xfrm>
          <a:prstGeom prst="rect">
            <a:avLst/>
          </a:prstGeom>
          <a:solidFill>
            <a:srgbClr val="F8C47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1680" y="2697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697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solidFill>
            <a:srgbClr val="F6A85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11680" y="3840480"/>
            <a:ext cx="2468880" cy="1143000"/>
          </a:xfrm>
          <a:prstGeom prst="rect">
            <a:avLst/>
          </a:prstGeom>
          <a:solidFill>
            <a:srgbClr val="CFE8C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60" y="3840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X1  X2  X3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P1  P2  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67528"/>
            <a:ext cx="74066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IMPACT  →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640080" y="1554480"/>
            <a:ext cx="1280160" cy="3429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CONTROL 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1554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2697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40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806440"/>
            <a:ext cx="859536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94560" y="5806440"/>
            <a:ext cx="82296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Prioritized root causes (high impact) are addressed first via Corrective &amp; Pro-Active Actions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Corrective &amp; Pro-Active Action (CAPAA)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09/11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19072"/>
            <a:ext cx="66385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171907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2494" y="1719072"/>
            <a:ext cx="60853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58214" y="171907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dP-based cleaning trigger &amp; alarm for HE-3301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7826" y="1719072"/>
            <a:ext cx="1438351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43546" y="171907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22-Jun-2026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6177" y="1719072"/>
            <a:ext cx="110642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81897" y="171907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STA-02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42601" y="1719072"/>
            <a:ext cx="177027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88321" y="171907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E68A00"/>
                </a:solidFill>
                <a:latin typeface="Calibri"/>
              </a:rPr>
              <a:t>In Progress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542032"/>
            <a:ext cx="66385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254203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2494" y="2542032"/>
            <a:ext cx="6085332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58214" y="254203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Tighten feed heavy-ends control &amp; filtration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7826" y="2542032"/>
            <a:ext cx="1438351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3546" y="254203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30-Jun-2026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6177" y="2542032"/>
            <a:ext cx="110642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81897" y="254203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ROT-01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42601" y="2542032"/>
            <a:ext cx="1770278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88321" y="254203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547872"/>
            <a:ext cx="109728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PRO-ACTIVE ACTION (roll-out to similar equipment)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Pro-Active 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242816"/>
            <a:ext cx="66385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242816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12494" y="4242816"/>
            <a:ext cx="60853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58214" y="4242816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Apply dP-trigger logic to parallel exchangers HE-3302/3303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7826" y="4242816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43546" y="4242816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22-Jul-2026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6177" y="4242816"/>
            <a:ext cx="110642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781897" y="4242816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STA-02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42601" y="4242816"/>
            <a:ext cx="177027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88321" y="4242816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901184"/>
            <a:ext cx="66385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" y="4901184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12494" y="4901184"/>
            <a:ext cx="6085332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58214" y="4901184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Review upstream fractionation cut-point control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97826" y="4901184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43546" y="4901184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31-Jul-2026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36177" y="4901184"/>
            <a:ext cx="110642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81897" y="4901184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ROT-01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42601" y="4901184"/>
            <a:ext cx="177027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888321" y="4901184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Preventive &amp; 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10/11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PREVENTIVE / PRO-ACTIVE ACTION (Good Condition Parameters)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Possible Root Cause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Preventive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920240"/>
            <a:ext cx="7744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1920240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3136" y="1920240"/>
            <a:ext cx="265541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8856" y="1920240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No fouling KPI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8553" y="1920240"/>
            <a:ext cx="486826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4273" y="1920240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fouling factor &amp; duty KPI to reliability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46818" y="1920240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2538" y="1920240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22-Jun-2026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85169" y="1920240"/>
            <a:ext cx="13277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0889" y="1920240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STA-02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578608"/>
            <a:ext cx="774496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2578608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23136" y="2578608"/>
            <a:ext cx="2655417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68856" y="2578608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Filter not trended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8553" y="2578608"/>
            <a:ext cx="4868265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4273" y="2578608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upstream filter dP trend &amp; replacement trigger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46818" y="2578608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92538" y="2578608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30-Jun-2026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85169" y="2578608"/>
            <a:ext cx="132770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30889" y="2578608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ROT-01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465576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RISK ANALYSIS OF CORRECTIVE 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Potential Risk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Countermeasure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dP cleaning trigger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46627" y="4160520"/>
            <a:ext cx="265541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92347" y="4160520"/>
            <a:ext cx="256397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Premature/over-frequent cleaning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2044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47764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Set trigger with hysteresis + engineering review before cleaning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00031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45751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22-Jun-2026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06455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552175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STA-02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PM SCHEDULE ESTABLISHED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PM No.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Group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Interval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751576"/>
            <a:ext cx="110642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5751576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55064" y="5751576"/>
            <a:ext cx="685982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700784" y="5751576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Daily HE-3301 dP &amp; duty trend review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14892" y="5751576"/>
            <a:ext cx="177027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560612" y="5751576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Process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285170" y="5751576"/>
            <a:ext cx="13277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330890" y="5751576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Daily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6062472"/>
            <a:ext cx="1106424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94360" y="6062472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55064" y="6062472"/>
            <a:ext cx="685982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700784" y="6062472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Bundle inspection &amp; cleaning at dP trigger / next TA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14892" y="6062472"/>
            <a:ext cx="177027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560612" y="6062472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Static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285170" y="6062472"/>
            <a:ext cx="132770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330890" y="6062472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Condition / TA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AR-2026-ZCU-0165  |  HE-3301 — ZCU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Downtime &amp; Closure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97480" cy="9144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DOWNTIME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12.0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974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PRODUCTION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216.0 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97480" cy="91440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ESTIMATED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$183.6k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697480" cy="914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PRE-RISK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III (400)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ROOT CAUSE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20440"/>
            <a:ext cx="5029200" cy="2468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Accelerated tube-side coke/polymer fouling driven by higher-than-design feed heavy-ends, allowed to progress by the absence of a dP-based cleaning trigger and fouling KPI, causing duty loss, high dP and a forced rate cut.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KEY CORRECTIVE / PRO-ACTIVE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118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Add dP-based cleaning trigger &amp; alarm for HE-3301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Tighten feed heavy-ends control &amp; filtration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Add fouling factor &amp; duty KPI to reliability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10972800" cy="1795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D9E1F2"/>
                </a:solidFill>
                <a:latin typeface="Calibri"/>
              </a:rPr>
              <a:t>AR-2026-ZCU-0165   •   HE-3301 — ZCU</a:t>
            </a:r>
            <a:endParaRPr lang="en-US" sz="1000" b="0" i="1">
              <a:solidFill>
                <a:srgbClr val="D9E1F2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78240" y="0"/>
            <a:ext cx="73152" cy="685800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B01E"/>
                </a:solidFill>
                <a:latin typeface="Calibri"/>
              </a:rPr>
              <a:t>ABNORMALITY REPORT — RCA &amp; CAPA/PAA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768096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>
                <a:solidFill>
                  <a:srgbClr val="D9E1F2"/>
                </a:solidFill>
                <a:latin typeface="Calibri"/>
              </a:rPr>
              <a:t>  Equipment Related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7680960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Product Blower BL-5702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F2B01E"/>
                </a:solidFill>
                <a:latin typeface="Georgia"/>
              </a:rPr>
              <a:t>High Vibration (Coupling Misalignment)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463040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AR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700784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AR-2026-OPP-0203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249424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TAG / PLANT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487168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BL-5702  |  OPP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035808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DATE OCCURRENCE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273552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17 Jun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822192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PRE-RISK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059936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III  (Score 400)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608576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PIC (RCA)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846320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ROT-01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9E1F2"/>
                </a:solidFill>
                <a:latin typeface="Calibri"/>
              </a:rPr>
              <a:t>Procedure No. RCA-P-0050-03  •  Form RCA-F-0075-02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PROBLEM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AR Details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02/11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AR IDENTIFICATION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28216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51760" y="1728216"/>
            <a:ext cx="4297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728216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Title /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28216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Product Blower BL-5702 — High Vibration (Coupling Misalignment)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7685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51760" y="2276856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27685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AR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27685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OPEDR (Operation) — Uptime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60904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51760" y="2660904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660904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Plant /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660904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OPP  (Orion Polypropylene Plant)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44952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51760" y="3044952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044952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Tag / Eq.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044952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BL-5702  |  Class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29000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51760" y="3429000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429000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Discipline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429000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13048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51760" y="3813048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813048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Occurrence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813048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17 Jun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19709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51760" y="4197096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19709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Reported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19709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18 Jun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81144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51760" y="4581144"/>
            <a:ext cx="4297680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581144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Immediate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581144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Stop BL-5702, re-align coupling, replace worn coupling element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315200" y="137160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3465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SEVERITY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465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Major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784080" y="1371600"/>
            <a:ext cx="109728" cy="105156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0353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PRE-RISK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353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III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315200" y="2560320"/>
            <a:ext cx="109728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3465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DOWNTIME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14.0 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784080" y="2560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0353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LOSS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353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$478.8k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3794760"/>
            <a:ext cx="4297680" cy="23317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4279392"/>
            <a:ext cx="3931920" cy="1737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Product Blower BL-5702 tripped on high vibration on 17-Jun-2026 due to coupling misalignment and a worn coupling element, halting the OPP powder-handling section.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AR-2026-OPP-0203  |  BL-5702 — OPP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GENERAL PROCESS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Chronology of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03/11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36576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6696" y="1463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417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15-Jun-2026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417320"/>
            <a:ext cx="7863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OPP running normal; BL-5702 vibration trending up (4.2 → 8.5 mm/s) with 2X harmonic rising.</a:t>
            </a:r>
          </a:p>
        </p:txBody>
      </p:sp>
      <p:sp>
        <p:nvSpPr>
          <p:cNvPr id="12" name="Oval 11"/>
          <p:cNvSpPr/>
          <p:nvPr/>
        </p:nvSpPr>
        <p:spPr>
          <a:xfrm>
            <a:off x="996696" y="2606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2560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17-Jun-2026 04:30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560320"/>
            <a:ext cx="7863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BL-5702 vibration reached alarm (11 mm/s); blower stopped to prevent damage — powder handling section halted.</a:t>
            </a:r>
          </a:p>
        </p:txBody>
      </p:sp>
      <p:sp>
        <p:nvSpPr>
          <p:cNvPr id="15" name="Oval 14"/>
          <p:cNvSpPr/>
          <p:nvPr/>
        </p:nvSpPr>
        <p:spPr>
          <a:xfrm>
            <a:off x="996696" y="3749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3703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17-Jun-2026 07:00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703320"/>
            <a:ext cx="7863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Coupling element found worn/cracked; laser alignment showed 0.35 mm offset (spec &lt; 0.05 mm).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892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4846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17-Jun-2026 18:30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846320"/>
            <a:ext cx="78638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Coupling element replaced, unit re-aligned to &lt; 0.05 mm, blower restarted to 38 T/H.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5989320"/>
            <a:ext cx="10058400" cy="45720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5989320"/>
            <a:ext cx="96926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Problem: Product Blower BL-5702 tripped on high vibration on 17-Jun-2026 due to coupling misalignment and a worn coupling element, halting the OPP powder-handling section.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AR-2026-OPP-0203  |  BL-5702 — OPP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ASSESS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Past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04/11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4480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HISTORICAL DATA &amp;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29200" cy="37490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BL-5702 vibration baseline is 3.5–4.5 mm/s. A rising trend with dominant 2X harmonic over 2 days indicated developing misalignment. Alignment was last verified 14 months prior; no soft-foot / alignment check in the routine PM.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03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IMPACT SUMMARY (4W)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965960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1965960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What: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258568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BL-5702 high vibration from coupling misalignment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907792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907792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When: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200400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17-Jun-2026 (04:30)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849624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3849624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Scope: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142232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OPP powder-handling section stop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4791456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4791456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Uptime Loss: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084064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14.0 hours  →  532.0 ton  →  $478.8k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AR-2026-OPP-0203  |  BL-5702 — OPP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TARGET SETTING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Actual vs Target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05/11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1234440"/>
          </a:xfrm>
          <a:prstGeom prst="rect">
            <a:avLst/>
          </a:prstGeom>
          <a:solidFill>
            <a:srgbClr val="FB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ACTUAL CONDITION (Before Improvement)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Blower stop due to high vibration (misalignment)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5486400" cy="123444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7D32"/>
                </a:solidFill>
                <a:latin typeface="Calibri"/>
              </a:rPr>
              <a:t>TARGET CONDITION (Project 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No blower stop due to misalignment (vibration &lt; 7 mm/s, alignment &lt; 0.05 mm)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5486400" cy="155448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40740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TARGET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512064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Recurrence of this equipment failure mode: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     Before = 1 case   →   Target = 0 case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0" y="1417320"/>
          <a:ext cx="52120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f833d8cbef33436d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AR-2026-OPP-0203  |  BL-5702 — OPP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Parameter Verification (4P)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06/11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Phenomenon / Parameter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Overall vibration above alarm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1766" y="1719072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7486" y="1719072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7547" y="1719072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3267" y="1719072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Vibration reached 11 mm/s vs 7 mm/s alarm — misalignment signature.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32304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32304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32304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32304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Coupling alignment out of tolerance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1766" y="2432304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7486" y="2432304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27547" y="2432304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3267" y="2432304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Offset 0.35 mm vs &lt; 0.05 mm spec — angular/parallel misalignment.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45536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145536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145536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145536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Bearing condition degraded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31766" y="3145536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7486" y="3145536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27547" y="3145536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73267" y="3145536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Bearing envelope/shock-pulse normal — no bearing defect.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58768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858768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858768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858768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Foundation / soft-foot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1766" y="3858768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7486" y="3858768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27547" y="3858768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573267" y="3858768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Soft-foot 0.12 mm found on one foot — contributed to misalignment.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572000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" y="4572000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12494" y="4572000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58214" y="4572000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Rotor unbalance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31766" y="4572000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7486" y="4572000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27547" y="4572000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73267" y="4572000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1X component within balance grade — no unbalance.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NG = current condition not meeting standard (problem)   •   G = meets standard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AR-2026-OPP-0203  |  BL-5702 — OPP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4M + 1E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07/11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Man / Machine / Method / Material / Environment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Alignment check not in routine PM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4335" y="1719072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0055" y="1719072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0116" y="1719072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5836" y="1719072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PM did not include periodic laser alignment / soft-foot check.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68880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68880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68880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68880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Coupling element life not tracked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74335" y="2468880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0055" y="2468880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70116" y="2468880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15836" y="2468880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Elastomer coupling element run beyond recommended 12-month life.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18688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218688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218688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218688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Vibration route interval too long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5" y="3218688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0055" y="3218688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70116" y="3218688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15836" y="3218688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Monthly route missed the fast-rising 2-day trend.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968496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968496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968496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968496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Alignment tools / competency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4335" y="3968496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0055" y="3968496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70116" y="3968496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15836" y="3968496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Laser alignment tool &amp; trained technicians available.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8640" y="5806440"/>
            <a:ext cx="146304" cy="56692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" y="580644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ROOT CAUSE:  High vibration from coupling misalignment aggravated by soft-foot and an over-aged elastomer coupling element, undetected because periodic alignment/soft-foot checks were absent from the PM and the vibration route interval was too long.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AR-2026-OPP-0203  |  BL-5702 — OPP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RCA — MATRIX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Impact vs Control Prioritization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08/11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554480"/>
            <a:ext cx="2468880" cy="1143000"/>
          </a:xfrm>
          <a:prstGeom prst="rect">
            <a:avLst/>
          </a:prstGeom>
          <a:solidFill>
            <a:srgbClr val="FFF3C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0" y="1554480"/>
            <a:ext cx="2468880" cy="1143000"/>
          </a:xfrm>
          <a:prstGeom prst="rect">
            <a:avLst/>
          </a:prstGeom>
          <a:solidFill>
            <a:srgbClr val="F8C47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1680" y="2697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697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solidFill>
            <a:srgbClr val="F6A85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11680" y="3840480"/>
            <a:ext cx="2468880" cy="1143000"/>
          </a:xfrm>
          <a:prstGeom prst="rect">
            <a:avLst/>
          </a:prstGeom>
          <a:solidFill>
            <a:srgbClr val="CFE8C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60" y="3840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X1  X2  X3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P1  P2  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67528"/>
            <a:ext cx="74066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IMPACT  →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640080" y="1554480"/>
            <a:ext cx="1280160" cy="3429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CONTROL 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1554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2697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40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806440"/>
            <a:ext cx="859536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94560" y="5806440"/>
            <a:ext cx="82296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Prioritized root causes (high impact) are addressed first via Corrective &amp; Pro-Active Actions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AR-2026-OPP-0203  |  BL-5702 — OPP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Corrective &amp; Pro-Active Action (CAPAA)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09/11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19072"/>
            <a:ext cx="66385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171907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2494" y="1719072"/>
            <a:ext cx="60853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58214" y="171907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periodic laser alignment &amp; soft-foot check to BL-5702 PM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7826" y="1719072"/>
            <a:ext cx="1438351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43546" y="171907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18-Jul-2026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6177" y="1719072"/>
            <a:ext cx="110642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81897" y="171907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ROT-01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42601" y="1719072"/>
            <a:ext cx="177027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88321" y="171907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E68A00"/>
                </a:solidFill>
                <a:latin typeface="Calibri"/>
              </a:rPr>
              <a:t>In Progress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542032"/>
            <a:ext cx="66385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254203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2494" y="2542032"/>
            <a:ext cx="6085332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58214" y="254203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Track coupling element life &amp; replace at 12 months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7826" y="2542032"/>
            <a:ext cx="1438351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3546" y="254203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18-Jul-2026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6177" y="2542032"/>
            <a:ext cx="110642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81897" y="254203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42601" y="2542032"/>
            <a:ext cx="1770278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88321" y="254203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547872"/>
            <a:ext cx="109728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PRO-ACTIVE ACTION (roll-out to similar equipment)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Pro-Active 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242816"/>
            <a:ext cx="66385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242816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12494" y="4242816"/>
            <a:ext cx="60853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58214" y="4242816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Roll out alignment check to all Class-A blowers in OPP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7826" y="4242816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43546" y="4242816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18-Aug-2026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6177" y="4242816"/>
            <a:ext cx="110642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781897" y="4242816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ROT-01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42601" y="4242816"/>
            <a:ext cx="177027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88321" y="4242816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901184"/>
            <a:ext cx="66385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" y="4901184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12494" y="4901184"/>
            <a:ext cx="6085332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58214" y="4901184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Create coupling-element replacement register for OPP trains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97826" y="4901184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43546" y="4901184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31-Aug-2026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36177" y="4901184"/>
            <a:ext cx="110642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81897" y="4901184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42601" y="4901184"/>
            <a:ext cx="177027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888321" y="4901184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AR-2026-OPP-0203  |  BL-5702 — OPP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Preventive &amp; 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10/11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PREVENTIVE / PRO-ACTIVE ACTION (Good Condition Parameters)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Possible Root Cause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Preventive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920240"/>
            <a:ext cx="7744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1920240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3136" y="1920240"/>
            <a:ext cx="265541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8856" y="1920240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Route interval too long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8553" y="1920240"/>
            <a:ext cx="486826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4273" y="1920240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Shorten BL-5702 vibration route to weekly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46818" y="1920240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2538" y="1920240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18-Jul-2026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85169" y="1920240"/>
            <a:ext cx="13277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0889" y="1920240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578608"/>
            <a:ext cx="774496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2578608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23136" y="2578608"/>
            <a:ext cx="2655417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68856" y="2578608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Soft-foot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8553" y="2578608"/>
            <a:ext cx="4868265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4273" y="2578608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Correct soft-foot &amp; re-shim baseplate BL-5702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46818" y="2578608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92538" y="2578608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18-Jun-2026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85169" y="2578608"/>
            <a:ext cx="132770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30889" y="2578608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ROT-01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465576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RISK ANALYSIS OF CORRECTIVE 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Potential Risk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Countermeasure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Shorten vibration route to weekly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46627" y="4160520"/>
            <a:ext cx="265541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92347" y="4160520"/>
            <a:ext cx="256397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Increased inspection workload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2044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47764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Use wireless vibration sensor for continuous trend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00031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45751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18-Jul-2026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06455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552175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PM SCHEDULE ESTABLISHED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PM No.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Group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Interval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751576"/>
            <a:ext cx="110642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5751576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55064" y="5751576"/>
            <a:ext cx="685982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700784" y="5751576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6-monthly laser alignment &amp; soft-foot check BL-5702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14892" y="5751576"/>
            <a:ext cx="177027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560612" y="5751576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Rotating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285170" y="5751576"/>
            <a:ext cx="13277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330890" y="5751576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6-monthly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6062472"/>
            <a:ext cx="1106424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94360" y="6062472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55064" y="6062472"/>
            <a:ext cx="685982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700784" y="6062472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Coupling element inspection/replacement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14892" y="6062472"/>
            <a:ext cx="177027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560612" y="6062472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Rotating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285170" y="6062472"/>
            <a:ext cx="132770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330890" y="6062472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12-monthly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6373368"/>
            <a:ext cx="110642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94360" y="6373368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655064" y="6373368"/>
            <a:ext cx="685982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700784" y="6373368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Weekly vibration trend review BL-5702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14892" y="6373368"/>
            <a:ext cx="177027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560612" y="6373368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Reliability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285170" y="6373368"/>
            <a:ext cx="13277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330890" y="6373368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Weekly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Downtime &amp; Closure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97480" cy="9144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DOWNTIME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14.0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974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PRODUCTION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532.0 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97480" cy="91440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ESTIMATED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$478.8k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697480" cy="914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PRE-RISK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III (400)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ROOT CAUSE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20440"/>
            <a:ext cx="5029200" cy="2468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High vibration from coupling misalignment aggravated by soft-foot and an over-aged elastomer coupling element, undetected because periodic alignment/soft-foot checks were absent from the PM and the vibration route interval was too long.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KEY CORRECTIVE / PRO-ACTIVE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118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Add periodic laser alignment &amp; soft-foot check to BL-5702 PM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Track coupling element life &amp; replace at 12 months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Shorten BL-5702 vibration route to weekly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10972800" cy="1795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D9E1F2"/>
                </a:solidFill>
                <a:latin typeface="Calibri"/>
              </a:rPr>
              <a:t>AR-2026-OPP-0203   •   BL-5702 — OPP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/>
  <keywords/>
  <dc:description>generated using python-pptx</dc:description>
  <lastModifiedBy>Steve Canny</lastModifiedBy>
  <revision>15</revision>
  <dcterms:created xsi:type="dcterms:W3CDTF">2013-01-27T09:14:16.0000000Z</dcterms:created>
  <dcterms:modified xsi:type="dcterms:W3CDTF">2026-09-29T12:59:09.2470000Z</dcterms:modified>
  <category/>
</coreProperties>
</file>

<file path=docProps/custom.xml><?xml version="1.0" encoding="utf-8"?>
<Properties xmlns="http://schemas.openxmlformats.org/officeDocument/2006/custom-properties" xmlns:vt="http://schemas.openxmlformats.org/officeDocument/2006/docPropsVTypes"/>
</file>